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17.xml" ContentType="application/vnd.openxmlformats-officedocument.presentationml.slide+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18"/>
  </p:notesMasterIdLst>
  <p:sldIdLst>
    <p:sldId id="261" r:id="rId2"/>
    <p:sldId id="271" r:id="rId9"/>
    <p:sldId id="259" r:id="rId11"/>
    <p:sldId id="371" r:id="rId24"/>
    <p:sldId id="264" r:id="rId12"/>
  </p:sldIdLst>
  <p:sldSz cx="9144000" cy="6858000" type="letter"/>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2BDED"/>
    <a:srgbClr val="02C1F1"/>
    <a:srgbClr val="2D5E99"/>
    <a:srgbClr val="242E3F"/>
    <a:srgbClr val="2D5E7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0EDC44-E775-4C11-B50C-A25AEFB66998}" v="87" dt="2025-11-27T16:34:48.8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693"/>
    <p:restoredTop sz="94694"/>
  </p:normalViewPr>
  <p:slideViewPr>
    <p:cSldViewPr snapToGrid="0">
      <p:cViewPr varScale="1">
        <p:scale>
          <a:sx n="121" d="100"/>
          <a:sy n="121" d="100"/>
        </p:scale>
        <p:origin x="1512" y="160"/>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8" Type="http://schemas.openxmlformats.org/officeDocument/2006/relationships/notesMaster" Target="notesMasters/notesMaster1.xml"/><Relationship Id="rId21" Type="http://schemas.openxmlformats.org/officeDocument/2006/relationships/theme" Target="theme/theme1.xml"/><Relationship Id="rId12" Type="http://schemas.openxmlformats.org/officeDocument/2006/relationships/slide" Target="slides/slide11.xml"/><Relationship Id="rId2" Type="http://schemas.openxmlformats.org/officeDocument/2006/relationships/slide" Target="slides/slide1.xml"/><Relationship Id="rId20" Type="http://schemas.openxmlformats.org/officeDocument/2006/relationships/viewProps" Target="viewProps.xml"/><Relationship Id="rId1" Type="http://schemas.openxmlformats.org/officeDocument/2006/relationships/slideMaster" Target="slideMasters/slideMaster1.xml"/><Relationship Id="rId11" Type="http://schemas.openxmlformats.org/officeDocument/2006/relationships/slide" Target="slides/slide10.xml"/><Relationship Id="rId23" Type="http://schemas.microsoft.com/office/2015/10/relationships/revisionInfo" Target="revisionInfo.xml"/><Relationship Id="rId19" Type="http://schemas.openxmlformats.org/officeDocument/2006/relationships/presProps" Target="presProps.xml"/><Relationship Id="rId9" Type="http://schemas.openxmlformats.org/officeDocument/2006/relationships/slide" Target="slides/slide8.xml"/><Relationship Id="rId22" Type="http://schemas.openxmlformats.org/officeDocument/2006/relationships/tableStyles" Target="tableStyles.xml"/><Relationship Id="rId24" Type="http://schemas.openxmlformats.org/officeDocument/2006/relationships/slide" Target="slides/slide17.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C116CF10-D285-784F-91D7-74265613BFF8}" type="datetimeFigureOut">
              <a:rPr lang="en-US" smtClean="0"/>
              <a:t>12/3/25</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47ADAE34-1ABE-DB46-A887-2719DDBB7619}" type="slidenum">
              <a:rPr lang="en-US" smtClean="0"/>
              <a:t>‹#›</a:t>
            </a:fld>
            <a:endParaRPr lang="en-US"/>
          </a:p>
        </p:txBody>
      </p:sp>
    </p:spTree>
    <p:extLst>
      <p:ext uri="{BB962C8B-B14F-4D97-AF65-F5344CB8AC3E}">
        <p14:creationId xmlns:p14="http://schemas.microsoft.com/office/powerpoint/2010/main" val="12325208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E5C73-0B62-D9A5-154E-C369BB1CD5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814374-568D-BC2C-8B4D-41EF07A03C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710892-80D2-1B2F-1B77-8325ABC2EC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D30E90-B5D7-D270-0B01-80B78A59F374}"/>
              </a:ext>
            </a:extLst>
          </p:cNvPr>
          <p:cNvSpPr>
            <a:spLocks noGrp="1"/>
          </p:cNvSpPr>
          <p:nvPr>
            <p:ph type="sldNum" sz="quarter" idx="5"/>
          </p:nvPr>
        </p:nvSpPr>
        <p:spPr/>
        <p:txBody>
          <a:bodyPr/>
          <a:lstStyle/>
          <a:p>
            <a:fld id="{47ADAE34-1ABE-DB46-A887-2719DDBB7619}" type="slidenum">
              <a:rPr lang="en-US" smtClean="0"/>
              <a:t>8</a:t>
            </a:fld>
            <a:endParaRPr lang="en-US"/>
          </a:p>
        </p:txBody>
      </p:sp>
    </p:spTree>
    <p:extLst>
      <p:ext uri="{BB962C8B-B14F-4D97-AF65-F5344CB8AC3E}">
        <p14:creationId xmlns:p14="http://schemas.microsoft.com/office/powerpoint/2010/main" val="5841749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ADAE34-1ABE-DB46-A887-2719DDBB7619}" type="slidenum">
              <a:rPr lang="en-US" smtClean="0"/>
              <a:t>11</a:t>
            </a:fld>
            <a:endParaRPr lang="en-US"/>
          </a:p>
        </p:txBody>
      </p:sp>
    </p:spTree>
    <p:extLst>
      <p:ext uri="{BB962C8B-B14F-4D97-AF65-F5344CB8AC3E}">
        <p14:creationId xmlns:p14="http://schemas.microsoft.com/office/powerpoint/2010/main" val="43927846"/>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80FDC49-7799-154F-AEB4-2120C2C6BE6C}" type="slidenum">
              <a:rPr lang="en-US" smtClean="0"/>
              <a:pPr/>
              <a:t>‹#›</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628650" y="6356351"/>
            <a:ext cx="2057400" cy="365125"/>
          </a:xfrm>
        </p:spPr>
        <p:txBody>
          <a:bodyPr/>
          <a:lstStyle>
            <a:lvl1pPr algn="l">
              <a:defRPr/>
            </a:lvl1pPr>
          </a:lstStyle>
          <a:p>
            <a:pPr algn="l"/>
            <a:fld id="{D80FDC49-7799-154F-AEB4-2120C2C6BE6C}" type="slidenum">
              <a:rPr lang="en-US" smtClean="0"/>
              <a:pPr/>
              <a:t>‹#›</a:t>
            </a:fld>
            <a:endParaRPr lang="en-US" dirty="0"/>
          </a:p>
        </p:txBody>
      </p:sp>
    </p:spTree>
    <p:extLst>
      <p:ext uri="{BB962C8B-B14F-4D97-AF65-F5344CB8AC3E}">
        <p14:creationId xmlns:p14="http://schemas.microsoft.com/office/powerpoint/2010/main" val="37153027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03DEB2D-B2F1-4040-99F7-12953BA33B37}" type="datetime1">
              <a:rPr lang="en-US" smtClean="0"/>
              <a:t>12/3/25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285750" y="6473825"/>
            <a:ext cx="2057400" cy="365125"/>
          </a:xfrm>
        </p:spPr>
        <p:txBody>
          <a:bodyPr/>
          <a:lstStyle>
            <a:lvl1pPr algn="l">
              <a:defRPr/>
            </a:lvl1pPr>
          </a:lstStyle>
          <a:p>
            <a:pPr algn="l"/>
            <a:fld id="{D80FDC49-7799-154F-AEB4-2120C2C6BE6C}" type="slidenum">
              <a:rPr lang="en-US" smtClean="0"/>
              <a:pPr/>
              <a:t>‹#›</a:t>
            </a:fld>
            <a:endParaRPr lang="en-US" dirty="0"/>
          </a:p>
        </p:txBody>
      </p:sp>
    </p:spTree>
    <p:extLst>
      <p:ext uri="{BB962C8B-B14F-4D97-AF65-F5344CB8AC3E}">
        <p14:creationId xmlns:p14="http://schemas.microsoft.com/office/powerpoint/2010/main" val="3657892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5D94718-1A0C-BB44-A846-7334D3365654}" type="datetime1">
              <a:rPr lang="en-US" smtClean="0"/>
              <a:t>12/3/25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628650" y="6356350"/>
            <a:ext cx="2057400" cy="365125"/>
          </a:xfrm>
        </p:spPr>
        <p:txBody>
          <a:bodyPr/>
          <a:lstStyle/>
          <a:p>
            <a:fld id="{D80FDC49-7799-154F-AEB4-2120C2C6BE6C}" type="slidenum">
              <a:rPr lang="en-US" smtClean="0"/>
              <a:t>‹#›</a:t>
            </a:fld>
            <a:endParaRPr lang="en-US"/>
          </a:p>
        </p:txBody>
      </p:sp>
    </p:spTree>
    <p:extLst>
      <p:ext uri="{BB962C8B-B14F-4D97-AF65-F5344CB8AC3E}">
        <p14:creationId xmlns:p14="http://schemas.microsoft.com/office/powerpoint/2010/main" val="238430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C2D3F6-1BF3-604B-9CE1-711067F9A67B}" type="datetime1">
              <a:rPr lang="en-US" smtClean="0"/>
              <a:t>12/3/25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0FDC49-7799-154F-AEB4-2120C2C6BE6C}" type="slidenum">
              <a:rPr lang="en-US" smtClean="0"/>
              <a:t>‹#›</a:t>
            </a:fld>
            <a:endParaRPr lang="en-US"/>
          </a:p>
        </p:txBody>
      </p:sp>
    </p:spTree>
    <p:extLst>
      <p:ext uri="{BB962C8B-B14F-4D97-AF65-F5344CB8AC3E}">
        <p14:creationId xmlns:p14="http://schemas.microsoft.com/office/powerpoint/2010/main" val="42561233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E3B1A1B-D009-B34E-BBA1-389B3ED9BEE0}" type="datetime1">
              <a:rPr lang="en-US" smtClean="0"/>
              <a:t>12/3/25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80FDC49-7799-154F-AEB4-2120C2C6BE6C}" type="slidenum">
              <a:rPr lang="en-US" smtClean="0"/>
              <a:t>‹#›</a:t>
            </a:fld>
            <a:endParaRPr lang="en-US"/>
          </a:p>
        </p:txBody>
      </p:sp>
    </p:spTree>
    <p:extLst>
      <p:ext uri="{BB962C8B-B14F-4D97-AF65-F5344CB8AC3E}">
        <p14:creationId xmlns:p14="http://schemas.microsoft.com/office/powerpoint/2010/main" val="12070066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C62CD0B-3E6A-3B4B-AC6D-5030E21EF91E}" type="datetime1">
              <a:rPr lang="en-US" smtClean="0"/>
              <a:t>12/3/25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80FDC49-7799-154F-AEB4-2120C2C6BE6C}" type="slidenum">
              <a:rPr lang="en-US" smtClean="0"/>
              <a:t>‹#›</a:t>
            </a:fld>
            <a:endParaRPr lang="en-US"/>
          </a:p>
        </p:txBody>
      </p:sp>
    </p:spTree>
    <p:extLst>
      <p:ext uri="{BB962C8B-B14F-4D97-AF65-F5344CB8AC3E}">
        <p14:creationId xmlns:p14="http://schemas.microsoft.com/office/powerpoint/2010/main" val="26954516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F9A970-067A-2B4B-B6C8-39B7BFB7683A}" type="datetime1">
              <a:rPr lang="en-US" smtClean="0"/>
              <a:t>12/3/25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80FDC49-7799-154F-AEB4-2120C2C6BE6C}" type="slidenum">
              <a:rPr lang="en-US" smtClean="0"/>
              <a:t>‹#›</a:t>
            </a:fld>
            <a:endParaRPr lang="en-US"/>
          </a:p>
        </p:txBody>
      </p:sp>
    </p:spTree>
    <p:extLst>
      <p:ext uri="{BB962C8B-B14F-4D97-AF65-F5344CB8AC3E}">
        <p14:creationId xmlns:p14="http://schemas.microsoft.com/office/powerpoint/2010/main" val="37279232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5452DEB-0A77-5C48-A244-46F7CE587AC3}" type="datetime1">
              <a:rPr lang="en-US" smtClean="0"/>
              <a:t>12/3/25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0FDC49-7799-154F-AEB4-2120C2C6BE6C}" type="slidenum">
              <a:rPr lang="en-US" smtClean="0"/>
              <a:t>‹#›</a:t>
            </a:fld>
            <a:endParaRPr lang="en-US"/>
          </a:p>
        </p:txBody>
      </p:sp>
    </p:spTree>
    <p:extLst>
      <p:ext uri="{BB962C8B-B14F-4D97-AF65-F5344CB8AC3E}">
        <p14:creationId xmlns:p14="http://schemas.microsoft.com/office/powerpoint/2010/main" val="17712228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F5EA00-5385-EE4D-9A61-0986F5F5874D}" type="datetime1">
              <a:rPr lang="en-US" smtClean="0"/>
              <a:t>12/3/25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80FDC49-7799-154F-AEB4-2120C2C6BE6C}" type="slidenum">
              <a:rPr lang="en-US" smtClean="0"/>
              <a:t>‹#›</a:t>
            </a:fld>
            <a:endParaRPr lang="en-US"/>
          </a:p>
        </p:txBody>
      </p:sp>
    </p:spTree>
    <p:extLst>
      <p:ext uri="{BB962C8B-B14F-4D97-AF65-F5344CB8AC3E}">
        <p14:creationId xmlns:p14="http://schemas.microsoft.com/office/powerpoint/2010/main" val="1726351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C5FCB2-B914-7849-BF74-0AC1B4152E80}" type="datetime1">
              <a:rPr lang="en-US" smtClean="0"/>
              <a:t>12/3/25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0FDC49-7799-154F-AEB4-2120C2C6BE6C}" type="slidenum">
              <a:rPr lang="en-US" smtClean="0"/>
              <a:t>‹#›</a:t>
            </a:fld>
            <a:endParaRPr lang="en-US"/>
          </a:p>
        </p:txBody>
      </p:sp>
    </p:spTree>
    <p:extLst>
      <p:ext uri="{BB962C8B-B14F-4D97-AF65-F5344CB8AC3E}">
        <p14:creationId xmlns:p14="http://schemas.microsoft.com/office/powerpoint/2010/main" val="34890500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B8BB1B-E489-9943-8534-3698A376F6AA}" type="datetime1">
              <a:rPr lang="en-US" smtClean="0"/>
              <a:t>12/3/25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0FDC49-7799-154F-AEB4-2120C2C6BE6C}" type="slidenum">
              <a:rPr lang="en-US" smtClean="0"/>
              <a:t>‹#›</a:t>
            </a:fld>
            <a:endParaRPr lang="en-US"/>
          </a:p>
        </p:txBody>
      </p:sp>
    </p:spTree>
    <p:extLst>
      <p:ext uri="{BB962C8B-B14F-4D97-AF65-F5344CB8AC3E}">
        <p14:creationId xmlns:p14="http://schemas.microsoft.com/office/powerpoint/2010/main" val="986622993"/>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80FDC49-7799-154F-AEB4-2120C2C6BE6C}" type="slidenum">
              <a:rPr lang="en-US" smtClean="0"/>
              <a:pPr/>
              <a:t>‹#›</a:t>
            </a:fld>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80FDC49-7799-154F-AEB4-2120C2C6BE6C}" type="slidenum">
              <a:rPr lang="en-US" smtClean="0"/>
              <a:t>‹#›</a:t>
            </a:fld>
            <a:endParaRPr lang="en-US" dirty="0"/>
          </a:p>
        </p:txBody>
      </p:sp>
    </p:spTree>
    <p:extLst>
      <p:ext uri="{BB962C8B-B14F-4D97-AF65-F5344CB8AC3E}">
        <p14:creationId xmlns:p14="http://schemas.microsoft.com/office/powerpoint/2010/main" val="34914224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2.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jpeg"/></Relationships>
</file>

<file path=ppt/slides/_rels/slide10.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gantt.png"/></Relationships>
</file>

<file path=ppt/slides/_rels/slide17.xml.rels><?xml version="1.0" encoding="UTF-8"?><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2.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BF23F-95FA-FFB1-4BF9-E787BB0AABB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7A2055F-207F-5828-D253-8727AD9A0362}"/>
              </a:ext>
            </a:extLst>
          </p:cNvPr>
          <p:cNvPicPr>
            <a:picLocks noChangeAspect="1"/>
          </p:cNvPicPr>
          <p:nvPr/>
        </p:nvPicPr>
        <p:blipFill>
          <a:blip r:embed="rId2"/>
          <a:srcRect l="8685" r="23969"/>
          <a:stretch>
            <a:fillRect/>
          </a:stretch>
        </p:blipFill>
        <p:spPr>
          <a:xfrm>
            <a:off x="20" y="1282"/>
            <a:ext cx="9143980" cy="6856718"/>
          </a:xfrm>
          <a:prstGeom prst="rect">
            <a:avLst/>
          </a:prstGeom>
        </p:spPr>
      </p:pic>
      <p:pic>
        <p:nvPicPr>
          <p:cNvPr id="13" name="Picture 12">
            <a:extLst>
              <a:ext uri="{FF2B5EF4-FFF2-40B4-BE49-F238E27FC236}">
                <a16:creationId xmlns:a16="http://schemas.microsoft.com/office/drawing/2014/main" id="{3362942A-CC46-9A75-37C3-FDE7F035236E}"/>
              </a:ext>
            </a:extLst>
          </p:cNvPr>
          <p:cNvPicPr>
            <a:picLocks noChangeAspect="1"/>
          </p:cNvPicPr>
          <p:nvPr/>
        </p:nvPicPr>
        <p:blipFill>
          <a:blip r:embed="rId3"/>
          <a:stretch>
            <a:fillRect/>
          </a:stretch>
        </p:blipFill>
        <p:spPr>
          <a:xfrm>
            <a:off x="2819879" y="3392639"/>
            <a:ext cx="3504243" cy="665965"/>
          </a:xfrm>
          <a:prstGeom prst="rect">
            <a:avLst/>
          </a:prstGeom>
        </p:spPr>
      </p:pic>
      <p:sp>
        <p:nvSpPr>
          <p:cNvPr id="3" name="TextBox 2">
            <a:extLst>
              <a:ext uri="{FF2B5EF4-FFF2-40B4-BE49-F238E27FC236}">
                <a16:creationId xmlns:a16="http://schemas.microsoft.com/office/drawing/2014/main" id="{1F25EE8E-ADB0-12D2-609E-8061AD49A22E}"/>
              </a:ext>
            </a:extLst>
          </p:cNvPr>
          <p:cNvSpPr txBox="1"/>
          <p:nvPr/>
        </p:nvSpPr>
        <p:spPr>
          <a:xfrm>
            <a:off x="760396" y="5875556"/>
            <a:ext cx="7623208" cy="553998"/>
          </a:xfrm>
          <a:prstGeom prst="rect">
            <a:avLst/>
          </a:prstGeom>
          <a:noFill/>
        </p:spPr>
        <p:txBody>
          <a:bodyPr wrap="square" rtlCol="0">
            <a:spAutoFit/>
          </a:bodyPr>
          <a:lstStyle/>
          <a:p>
            <a:pPr algn="ctr"/>
            <a:r>
              <a:rPr lang="en-US" sz="1000" dirty="0">
                <a:solidFill>
                  <a:schemeClr val="bg1"/>
                </a:solidFill>
              </a:rPr>
              <a:t>This presentation contains confidential and proprietary information intended solely for the recipient. It is provided for informational purposes only and may not be reproduced, distributed, or disclosed without prior written consent. By accepting this presentation, you agree to maintain its confidentiality and use the information solely to evaluate a potential investment opportunity.</a:t>
            </a:r>
          </a:p>
        </p:txBody>
      </p:sp>
      <p:sp>
        <p:nvSpPr>
          <p:cNvPr id="4" name="TextBox 3">
            <a:extLst>
              <a:ext uri="{FF2B5EF4-FFF2-40B4-BE49-F238E27FC236}">
                <a16:creationId xmlns:a16="http://schemas.microsoft.com/office/drawing/2014/main" id="{4CD0C588-FE57-FD4D-BC14-E79EC0E7C78F}"/>
              </a:ext>
            </a:extLst>
          </p:cNvPr>
          <p:cNvSpPr txBox="1"/>
          <p:nvPr/>
        </p:nvSpPr>
        <p:spPr>
          <a:xfrm>
            <a:off x="1394035" y="1718434"/>
            <a:ext cx="6355930" cy="523220"/>
          </a:xfrm>
          <a:prstGeom prst="rect">
            <a:avLst/>
          </a:prstGeom>
          <a:noFill/>
        </p:spPr>
        <p:txBody>
          <a:bodyPr wrap="square">
            <a:spAutoFit/>
          </a:bodyPr>
          <a:lstStyle/>
          <a:p>
            <a:r>
              <a:rPr lang="en-US" sz="2800" dirty="0">
                <a:solidFill>
                  <a:schemeClr val="bg1"/>
                </a:solidFill>
                <a:latin typeface="Avenir Book" panose="02000503020000020003" pitchFamily="2" charset="0"/>
              </a:rPr>
              <a:t>67 East 161st Street — Bronx, NY</a:t>
            </a:r>
          </a:p>
        </p:txBody>
      </p:sp>
      <p:sp>
        <p:nvSpPr>
          <p:cNvPr id="6" name="TextBox 5">
            <a:extLst>
              <a:ext uri="{FF2B5EF4-FFF2-40B4-BE49-F238E27FC236}">
                <a16:creationId xmlns:a16="http://schemas.microsoft.com/office/drawing/2014/main" id="{31987AAF-22D6-97DE-E083-83C1EF791C5C}"/>
              </a:ext>
            </a:extLst>
          </p:cNvPr>
          <p:cNvSpPr txBox="1"/>
          <p:nvPr/>
        </p:nvSpPr>
        <p:spPr>
          <a:xfrm>
            <a:off x="3415748" y="2447814"/>
            <a:ext cx="2312505" cy="369332"/>
          </a:xfrm>
          <a:prstGeom prst="rect">
            <a:avLst/>
          </a:prstGeom>
          <a:noFill/>
        </p:spPr>
        <p:txBody>
          <a:bodyPr wrap="square">
            <a:spAutoFit/>
          </a:bodyPr>
          <a:lstStyle/>
          <a:p>
            <a:r>
              <a:rPr lang="en-US" dirty="0">
                <a:solidFill>
                  <a:schemeClr val="bg1"/>
                </a:solidFill>
                <a:latin typeface="Avenir Book" panose="02000503020000020003" pitchFamily="2" charset="0"/>
              </a:rPr>
              <a:t>Ground-Up Build-to-Suit for Bronx Defenders • May 2026</a:t>
            </a:r>
          </a:p>
        </p:txBody>
      </p:sp>
      <p:sp>
        <p:nvSpPr>
          <p:cNvPr id="10" name="Slide Number Placeholder 9">
            <a:extLst>
              <a:ext uri="{FF2B5EF4-FFF2-40B4-BE49-F238E27FC236}">
                <a16:creationId xmlns:a16="http://schemas.microsoft.com/office/drawing/2014/main" id="{6E5ABB6E-86A6-D69D-1711-316B5A52F367}"/>
              </a:ext>
            </a:extLst>
          </p:cNvPr>
          <p:cNvSpPr>
            <a:spLocks noGrp="1"/>
          </p:cNvSpPr>
          <p:nvPr>
            <p:ph type="sldNum" sz="quarter" idx="12"/>
          </p:nvPr>
        </p:nvSpPr>
        <p:spPr/>
        <p:txBody>
          <a:bodyPr/>
          <a:lstStyle/>
          <a:p>
            <a:fld id="{D80FDC49-7799-154F-AEB4-2120C2C6BE6C}" type="slidenum">
              <a:rPr lang="en-US" smtClean="0"/>
              <a:t>1</a:t>
            </a:fld>
            <a:endParaRPr lang="en-US"/>
          </a:p>
        </p:txBody>
      </p:sp>
    </p:spTree>
    <p:extLst>
      <p:ext uri="{BB962C8B-B14F-4D97-AF65-F5344CB8AC3E}">
        <p14:creationId xmlns:p14="http://schemas.microsoft.com/office/powerpoint/2010/main" val="40383832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47E4D-EC7F-1E9C-4E5C-5FA8688F0C5F}"/>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DE19AEE8-8B1C-9659-3088-DBE41E94EEB1}"/>
              </a:ext>
            </a:extLst>
          </p:cNvPr>
          <p:cNvGraphicFramePr>
            <a:graphicFrameLocks noGrp="1"/>
          </p:cNvGraphicFramePr>
          <p:nvPr>
            <p:extLst>
              <p:ext uri="{D42A27DB-BD31-4B8C-83A1-F6EECF244321}">
                <p14:modId xmlns:p14="http://schemas.microsoft.com/office/powerpoint/2010/main" val="2442777921"/>
              </p:ext>
            </p:extLst>
          </p:nvPr>
        </p:nvGraphicFramePr>
        <p:xfrm>
          <a:off x="107114" y="892711"/>
          <a:ext cx="8929770" cy="4751995"/>
        </p:xfrm>
        <a:graphic>
          <a:graphicData uri="http://schemas.openxmlformats.org/drawingml/2006/table">
            <a:tbl>
              <a:tblPr firstRow="1" bandRow="1">
                <a:tableStyleId>{69012ECD-51FC-41F1-AA8D-1B2483CD663E}</a:tableStyleId>
              </a:tblPr>
              <a:tblGrid>
                <a:gridCol w="2096824">
                  <a:extLst>
                    <a:ext uri="{9D8B030D-6E8A-4147-A177-3AD203B41FA5}">
                      <a16:colId xmlns:a16="http://schemas.microsoft.com/office/drawing/2014/main" val="2339380920"/>
                    </a:ext>
                  </a:extLst>
                </a:gridCol>
                <a:gridCol w="1134628">
                  <a:extLst>
                    <a:ext uri="{9D8B030D-6E8A-4147-A177-3AD203B41FA5}">
                      <a16:colId xmlns:a16="http://schemas.microsoft.com/office/drawing/2014/main" val="4077358208"/>
                    </a:ext>
                  </a:extLst>
                </a:gridCol>
                <a:gridCol w="3765619">
                  <a:extLst>
                    <a:ext uri="{9D8B030D-6E8A-4147-A177-3AD203B41FA5}">
                      <a16:colId xmlns:a16="http://schemas.microsoft.com/office/drawing/2014/main" val="1792740468"/>
                    </a:ext>
                  </a:extLst>
                </a:gridCol>
                <a:gridCol w="691661">
                  <a:extLst>
                    <a:ext uri="{9D8B030D-6E8A-4147-A177-3AD203B41FA5}">
                      <a16:colId xmlns:a16="http://schemas.microsoft.com/office/drawing/2014/main" val="1893555166"/>
                    </a:ext>
                  </a:extLst>
                </a:gridCol>
                <a:gridCol w="773723">
                  <a:extLst>
                    <a:ext uri="{9D8B030D-6E8A-4147-A177-3AD203B41FA5}">
                      <a16:colId xmlns:a16="http://schemas.microsoft.com/office/drawing/2014/main" val="1339145678"/>
                    </a:ext>
                  </a:extLst>
                </a:gridCol>
                <a:gridCol w="467315">
                  <a:extLst>
                    <a:ext uri="{9D8B030D-6E8A-4147-A177-3AD203B41FA5}">
                      <a16:colId xmlns:a16="http://schemas.microsoft.com/office/drawing/2014/main" val="3322795921"/>
                    </a:ext>
                  </a:extLst>
                </a:gridCol>
              </a:tblGrid>
              <a:tr h="438032">
                <a:tc>
                  <a:txBody>
                    <a:bodyPr/>
                    <a:lstStyle/>
                    <a:p>
                      <a:pPr algn="ctr"/>
                      <a:endParaRPr lang="en-US" sz="1050" dirty="0">
                        <a:latin typeface="+mn-lt"/>
                      </a:endParaRPr>
                    </a:p>
                  </a:txBody>
                  <a:tcPr marL="68580" marR="68580" marT="34290" marB="34290" anchor="ctr">
                    <a:solidFill>
                      <a:srgbClr val="242E3F"/>
                    </a:solidFill>
                  </a:tcPr>
                </a:tc>
                <a:tc>
                  <a:txBody>
                    <a:bodyPr/>
                    <a:lstStyle/>
                    <a:p>
                      <a:pPr algn="ctr"/>
                      <a:r>
                        <a:rPr lang="en-US" sz="1050" b="0" i="0" dirty="0">
                          <a:latin typeface="Avenir Book" panose="02000503020000020003" pitchFamily="2" charset="0"/>
                        </a:rPr>
                        <a:t>Step</a:t>
                      </a:r>
                    </a:p>
                  </a:txBody>
                  <a:tcPr marL="68580" marR="68580" marT="34290" marB="34290" anchor="ctr">
                    <a:solidFill>
                      <a:srgbClr val="242E3F"/>
                    </a:solidFill>
                  </a:tcPr>
                </a:tc>
                <a:tc>
                  <a:txBody>
                    <a:bodyPr/>
                    <a:lstStyle/>
                    <a:p>
                      <a:pPr algn="ctr"/>
                      <a:r>
                        <a:rPr lang="en-US" sz="1050" b="0" i="0" dirty="0">
                          <a:latin typeface="Avenir Book" panose="02000503020000020003" pitchFamily="2" charset="0"/>
                        </a:rPr>
                        <a:t>Description</a:t>
                      </a:r>
                    </a:p>
                  </a:txBody>
                  <a:tcPr marL="68580" marR="68580" marT="34290" marB="34290" anchor="ctr">
                    <a:solidFill>
                      <a:srgbClr val="242E3F"/>
                    </a:solidFill>
                  </a:tcPr>
                </a:tc>
                <a:tc>
                  <a:txBody>
                    <a:bodyPr/>
                    <a:lstStyle/>
                    <a:p>
                      <a:pPr algn="ctr"/>
                      <a:r>
                        <a:rPr lang="en-US" sz="1050" b="0" i="0" dirty="0">
                          <a:latin typeface="Avenir Book" panose="02000503020000020003" pitchFamily="2" charset="0"/>
                        </a:rPr>
                        <a:t>Status / Timing</a:t>
                      </a:r>
                    </a:p>
                  </a:txBody>
                  <a:tcPr marL="68580" marR="68580" marT="34290" marB="34290" anchor="ctr">
                    <a:solidFill>
                      <a:srgbClr val="242E3F"/>
                    </a:solidFill>
                  </a:tcPr>
                </a:tc>
                <a:tc>
                  <a:txBody>
                    <a:bodyPr/>
                    <a:lstStyle/>
                    <a:p>
                      <a:pPr algn="ctr"/>
                      <a:r>
                        <a:rPr lang="en-US" sz="1050" b="0" i="0" dirty="0">
                          <a:latin typeface="Avenir Book" panose="02000503020000020003" pitchFamily="2" charset="0"/>
                        </a:rPr>
                        <a:t>Cost</a:t>
                      </a:r>
                    </a:p>
                  </a:txBody>
                  <a:tcPr marL="68580" marR="68580" marT="34290" marB="34290" anchor="ctr">
                    <a:solidFill>
                      <a:srgbClr val="242E3F"/>
                    </a:solidFill>
                  </a:tcPr>
                </a:tc>
                <a:tc>
                  <a:txBody>
                    <a:bodyPr/>
                    <a:lstStyle/>
                    <a:p>
                      <a:pPr algn="ctr"/>
                      <a:r>
                        <a:rPr lang="en-US" sz="1050" b="0" i="0" dirty="0">
                          <a:latin typeface="Avenir Book" panose="02000503020000020003" pitchFamily="2" charset="0"/>
                        </a:rPr>
                        <a:t>Size</a:t>
                      </a:r>
                    </a:p>
                  </a:txBody>
                  <a:tcPr marL="68580" marR="68580" marT="34290" marB="34290" anchor="ctr">
                    <a:solidFill>
                      <a:srgbClr val="242E3F"/>
                    </a:solidFill>
                  </a:tcPr>
                </a:tc>
                <a:extLst>
                  <a:ext uri="{0D108BD9-81ED-4DB2-BD59-A6C34878D82A}">
                    <a16:rowId xmlns:a16="http://schemas.microsoft.com/office/drawing/2014/main" val="1146122330"/>
                  </a:ext>
                </a:extLst>
              </a:tr>
              <a:tr h="817013">
                <a:tc>
                  <a:txBody>
                    <a:bodyPr/>
                    <a:lstStyle/>
                    <a:p>
                      <a:pPr algn="ctr"/>
                      <a:endParaRPr lang="en-US" sz="900" dirty="0">
                        <a:latin typeface="Avenir Book" panose="02000503020000020003" pitchFamily="2" charset="0"/>
                      </a:endParaRPr>
                    </a:p>
                  </a:txBody>
                  <a:tcPr marL="68580" marR="68580" marT="34290" marB="34290"/>
                </a:tc>
                <a:tc>
                  <a:txBody>
                    <a:bodyPr/>
                    <a:lstStyle/>
                    <a:p>
                      <a:pPr algn="ctr"/>
                      <a:endParaRPr lang="en-US" sz="1000" b="0" i="0" dirty="0">
                        <a:latin typeface="Avenir Book" panose="02000503020000020003" pitchFamily="2" charset="0"/>
                      </a:endParaRPr>
                    </a:p>
                    <a:p>
                      <a:pPr algn="ctr"/>
                      <a:endParaRPr lang="en-US" sz="1000" b="0" i="0" dirty="0">
                        <a:latin typeface="Avenir Book" panose="02000503020000020003" pitchFamily="2" charset="0"/>
                      </a:endParaRPr>
                    </a:p>
                    <a:p>
                      <a:pPr algn="ctr"/>
                      <a:r>
                        <a:rPr lang="en-US" sz="1000" b="0" i="0" dirty="0">
                          <a:latin typeface="Avenir Book" panose="02000503020000020003" pitchFamily="2" charset="0"/>
                        </a:rPr>
                        <a:t>McDonald’s Lot</a:t>
                      </a:r>
                    </a:p>
                  </a:txBody>
                  <a:tcPr marL="68580" marR="68580" marT="34290" marB="34290" anchor="ctr"/>
                </a:tc>
                <a:tc>
                  <a:txBody>
                    <a:bodyPr/>
                    <a:lstStyle/>
                    <a:p>
                      <a:pPr algn="just"/>
                      <a:r>
                        <a:rPr lang="en-US" sz="900" b="0" i="0" dirty="0">
                          <a:latin typeface="Avenir Book" panose="02000503020000020003" pitchFamily="2" charset="0"/>
                        </a:rPr>
                        <a:t>Acquire the east-end parcel from the McDonald’s franchisee. PSA signed 4/30/2026 with short due-diligence window. Closing subject to a 120-day Warren Act notice to the franchisee under NY franchise law. Site delivered vacant on a structured timeline that aligns with the Chase closing.</a:t>
                      </a:r>
                    </a:p>
                  </a:txBody>
                  <a:tcPr marL="68580" marR="68580" marT="34290" marB="34290" anchor="ctr"/>
                </a:tc>
                <a:tc>
                  <a:txBody>
                    <a:bodyPr/>
                    <a:lstStyle/>
                    <a:p>
                      <a:pPr algn="ctr"/>
                      <a:r>
                        <a:rPr lang="en-US" sz="1000" b="0" i="0" dirty="0">
                          <a:latin typeface="Avenir Book" panose="02000503020000020003" pitchFamily="2" charset="0"/>
                        </a:rPr>
                        <a:t>PSA Signed 4/30/26</a:t>
                      </a:r>
                    </a:p>
                  </a:txBody>
                  <a:tcPr marL="68580" marR="68580" marT="34290" marB="34290" anchor="ctr"/>
                </a:tc>
                <a:tc>
                  <a:txBody>
                    <a:bodyPr/>
                    <a:lstStyle/>
                    <a:p>
                      <a:pPr algn="ctr"/>
                      <a:r>
                        <a:rPr lang="en-US" sz="1000" b="0" i="0" dirty="0">
                          <a:latin typeface="Avenir Book" panose="02000503020000020003" pitchFamily="2" charset="0"/>
                        </a:rPr>
                        <a:t>$9.25M</a:t>
                      </a:r>
                    </a:p>
                  </a:txBody>
                  <a:tcPr marL="68580" marR="68580" marT="34290" marB="34290" anchor="ctr"/>
                </a:tc>
                <a:tc>
                  <a:txBody>
                    <a:bodyPr/>
                    <a:lstStyle/>
                    <a:p>
                      <a:pPr algn="ctr"/>
                      <a:r>
                        <a:rPr lang="en-US" sz="1000" b="0" i="0" dirty="0">
                          <a:latin typeface="Avenir Book" panose="02000503020000020003" pitchFamily="2" charset="0"/>
                        </a:rPr>
                        <a:t>~8,900 SF</a:t>
                      </a:r>
                    </a:p>
                  </a:txBody>
                  <a:tcPr marL="68580" marR="68580" marT="34290" marB="34290" anchor="ctr"/>
                </a:tc>
                <a:extLst>
                  <a:ext uri="{0D108BD9-81ED-4DB2-BD59-A6C34878D82A}">
                    <a16:rowId xmlns:a16="http://schemas.microsoft.com/office/drawing/2014/main" val="4058527576"/>
                  </a:ext>
                </a:extLst>
              </a:tr>
              <a:tr h="817013">
                <a:tc>
                  <a:txBody>
                    <a:bodyPr/>
                    <a:lstStyle/>
                    <a:p>
                      <a:pPr algn="ctr"/>
                      <a:endParaRPr lang="en-US" sz="900" dirty="0">
                        <a:latin typeface="Avenir Book" panose="02000503020000020003" pitchFamily="2" charset="0"/>
                      </a:endParaRPr>
                    </a:p>
                  </a:txBody>
                  <a:tcPr marL="68580" marR="68580" marT="34290" marB="34290"/>
                </a:tc>
                <a:tc>
                  <a:txBody>
                    <a:bodyPr/>
                    <a:lstStyle/>
                    <a:p>
                      <a:pPr algn="ctr"/>
                      <a:endParaRPr lang="en-US" sz="1000" b="0" i="0" dirty="0">
                        <a:latin typeface="Avenir Book" panose="02000503020000020003" pitchFamily="2" charset="0"/>
                      </a:endParaRPr>
                    </a:p>
                    <a:p>
                      <a:pPr algn="ctr"/>
                      <a:endParaRPr lang="en-US" sz="1000" b="0" i="0" dirty="0">
                        <a:latin typeface="Avenir Book" panose="02000503020000020003" pitchFamily="2" charset="0"/>
                      </a:endParaRPr>
                    </a:p>
                    <a:p>
                      <a:pPr algn="ctr"/>
                      <a:r>
                        <a:rPr lang="en-US" sz="1000" b="0" i="0" dirty="0">
                          <a:latin typeface="Avenir Book" panose="02000503020000020003" pitchFamily="2" charset="0"/>
                        </a:rPr>
                        <a:t>Chase Lot</a:t>
                      </a:r>
                      <a:endParaRPr lang="en-US" sz="1000" b="0" i="0" dirty="0">
                        <a:latin typeface="Avenir Book" panose="02000503020000020003" pitchFamily="2" charset="0"/>
                      </a:endParaRPr>
                    </a:p>
                  </a:txBody>
                  <a:tcPr marL="68580" marR="68580" marT="34290" marB="34290" anchor="ctr"/>
                </a:tc>
                <a:tc>
                  <a:txBody>
                    <a:bodyPr/>
                    <a:lstStyle/>
                    <a:p>
                      <a:pPr algn="just"/>
                      <a:r>
                        <a:rPr lang="en-US" sz="900" b="0" i="0" dirty="0">
                          <a:latin typeface="Avenir Book" panose="02000503020000020003" pitchFamily="2" charset="0"/>
                        </a:rPr>
                        <a:t>Acquire the adjacent parcel from JPMorgan Chase, which operates a retail branch on the site today. PSA signed June 2026; Chase is relocating its branch to the LX site directly across the street. Closing targeted December 2026 with vacant delivery of the existing branch building.</a:t>
                      </a:r>
                    </a:p>
                  </a:txBody>
                  <a:tcPr marL="68580" marR="68580" marT="34290" marB="34290" anchor="ctr"/>
                </a:tc>
                <a:tc>
                  <a:txBody>
                    <a:bodyPr/>
                    <a:lstStyle/>
                    <a:p>
                      <a:pPr algn="ctr"/>
                      <a:r>
                        <a:rPr lang="en-US" sz="1000" b="0" i="0" dirty="0">
                          <a:latin typeface="Avenir Book" panose="02000503020000020003" pitchFamily="2" charset="0"/>
                        </a:rPr>
                        <a:t>Closing Dec 2026</a:t>
                      </a:r>
                    </a:p>
                  </a:txBody>
                  <a:tcPr marL="68580" marR="68580" marT="34290" marB="34290" anchor="ctr"/>
                </a:tc>
                <a:tc>
                  <a:txBody>
                    <a:bodyPr/>
                    <a:lstStyle/>
                    <a:p>
                      <a:pPr algn="ctr"/>
                      <a:r>
                        <a:rPr lang="en-US" sz="1000" b="0" i="0" dirty="0">
                          <a:latin typeface="Avenir Book" panose="02000503020000020003" pitchFamily="2" charset="0"/>
                        </a:rPr>
                        <a:t>$8.50M</a:t>
                      </a:r>
                    </a:p>
                  </a:txBody>
                  <a:tcPr marL="68580" marR="68580" marT="34290" marB="34290" anchor="ctr"/>
                </a:tc>
                <a:tc>
                  <a:txBody>
                    <a:bodyPr/>
                    <a:lstStyle/>
                    <a:p>
                      <a:pPr algn="ctr"/>
                      <a:r>
                        <a:rPr lang="en-US" sz="1000" b="0" i="0" dirty="0">
                          <a:latin typeface="Avenir Book" panose="02000503020000020003" pitchFamily="2" charset="0"/>
                        </a:rPr>
                        <a:t>~11,610 SF</a:t>
                      </a:r>
                    </a:p>
                  </a:txBody>
                  <a:tcPr marL="68580" marR="68580" marT="34290" marB="34290" anchor="ctr"/>
                </a:tc>
                <a:extLst>
                  <a:ext uri="{0D108BD9-81ED-4DB2-BD59-A6C34878D82A}">
                    <a16:rowId xmlns:a16="http://schemas.microsoft.com/office/drawing/2014/main" val="3069544482"/>
                  </a:ext>
                </a:extLst>
              </a:tr>
              <a:tr h="817013">
                <a:tc>
                  <a:txBody>
                    <a:bodyPr/>
                    <a:lstStyle/>
                    <a:p>
                      <a:pPr algn="ctr"/>
                      <a:endParaRPr lang="en-US" sz="900" dirty="0">
                        <a:latin typeface="Avenir Book" panose="02000503020000020003" pitchFamily="2" charset="0"/>
                      </a:endParaRPr>
                    </a:p>
                  </a:txBody>
                  <a:tcPr marL="68580" marR="68580" marT="34290" marB="34290"/>
                </a:tc>
                <a:tc>
                  <a:txBody>
                    <a:bodyPr/>
                    <a:lstStyle/>
                    <a:p>
                      <a:pPr algn="ctr"/>
                      <a:endParaRPr lang="en-US" sz="1000" b="0" i="0" dirty="0">
                        <a:latin typeface="Avenir Book" panose="02000503020000020003" pitchFamily="2" charset="0"/>
                      </a:endParaRPr>
                    </a:p>
                    <a:p>
                      <a:pPr algn="ctr"/>
                      <a:endParaRPr lang="en-US" sz="1000" b="0" i="0" dirty="0">
                        <a:latin typeface="Avenir Book" panose="02000503020000020003" pitchFamily="2" charset="0"/>
                      </a:endParaRPr>
                    </a:p>
                    <a:p>
                      <a:pPr algn="ctr"/>
                      <a:r>
                        <a:rPr lang="en-US" sz="1000" b="0" i="0" dirty="0">
                          <a:latin typeface="Avenir Book" panose="02000503020000020003" pitchFamily="2" charset="0"/>
                        </a:rPr>
                        <a:t>Tax Lot Merger</a:t>
                      </a:r>
                    </a:p>
                  </a:txBody>
                  <a:tcPr marL="68580" marR="68580" marT="34290" marB="34290" anchor="ctr"/>
                </a:tc>
                <a:tc>
                  <a:txBody>
                    <a:bodyPr/>
                    <a:lstStyle/>
                    <a:p>
                      <a:pPr algn="just"/>
                      <a:r>
                        <a:rPr lang="en-US" sz="900" b="0" i="0" dirty="0">
                          <a:latin typeface="Avenir Book" panose="02000503020000020003" pitchFamily="2" charset="0"/>
                        </a:rPr>
                        <a:t>Merge the McDonald’s and Chase parcels into a single tax lot at combined closing. Aggregate site: 20,510 SF with 7.65 FAR, yielding ~157,000 SF of buildable mixed-use floor area. ULURP not required — site is as-of-right under existing R10/C2-4 zoning.</a:t>
                      </a:r>
                    </a:p>
                  </a:txBody>
                  <a:tcPr marL="68580" marR="68580" marT="34290" marB="34290" anchor="ctr"/>
                </a:tc>
                <a:tc>
                  <a:txBody>
                    <a:bodyPr/>
                    <a:lstStyle/>
                    <a:p>
                      <a:pPr algn="ctr"/>
                      <a:r>
                        <a:rPr lang="en-US" sz="1000" b="0" i="0" dirty="0">
                          <a:latin typeface="Avenir Book" panose="02000503020000020003" pitchFamily="2" charset="0"/>
                        </a:rPr>
                        <a:t>At Combined Closing</a:t>
                      </a:r>
                    </a:p>
                  </a:txBody>
                  <a:tcPr marL="68580" marR="68580" marT="34290" marB="34290" anchor="ctr"/>
                </a:tc>
                <a:tc>
                  <a:txBody>
                    <a:bodyPr/>
                    <a:lstStyle/>
                    <a:p>
                      <a:pPr algn="ctr"/>
                      <a:r>
                        <a:rPr lang="en-US" sz="1000" b="0" i="0" dirty="0">
                          <a:latin typeface="Avenir Book" panose="02000503020000020003" pitchFamily="2" charset="0"/>
                        </a:rPr>
                        <a:t>20,510 SF site</a:t>
                      </a:r>
                    </a:p>
                  </a:txBody>
                  <a:tcPr marL="68580" marR="68580" marT="34290" marB="34290" anchor="ctr"/>
                </a:tc>
                <a:tc>
                  <a:txBody>
                    <a:bodyPr/>
                    <a:lstStyle/>
                    <a:p>
                      <a:pPr algn="ctr"/>
                      <a:r>
                        <a:rPr lang="en-US" sz="1000" b="0" i="0" dirty="0">
                          <a:latin typeface="Avenir Book" panose="02000503020000020003" pitchFamily="2" charset="0"/>
                        </a:rPr>
                        <a:t>157K SF buildable</a:t>
                      </a:r>
                    </a:p>
                  </a:txBody>
                  <a:tcPr marL="68580" marR="68580" marT="34290" marB="34290" anchor="ctr"/>
                </a:tc>
                <a:extLst>
                  <a:ext uri="{0D108BD9-81ED-4DB2-BD59-A6C34878D82A}">
                    <a16:rowId xmlns:a16="http://schemas.microsoft.com/office/drawing/2014/main" val="1914601868"/>
                  </a:ext>
                </a:extLst>
              </a:tr>
              <a:tr h="1045911">
                <a:tc>
                  <a:txBody>
                    <a:bodyPr/>
                    <a:lstStyle/>
                    <a:p>
                      <a:pPr algn="ctr"/>
                      <a:endParaRPr lang="en-US" sz="900" dirty="0">
                        <a:latin typeface="Avenir Book" panose="02000503020000020003" pitchFamily="2" charset="0"/>
                      </a:endParaRPr>
                    </a:p>
                  </a:txBody>
                  <a:tcPr marL="68580" marR="68580" marT="34290" marB="34290"/>
                </a:tc>
                <a:tc>
                  <a:txBody>
                    <a:bodyPr/>
                    <a:lstStyle/>
                    <a:p>
                      <a:pPr algn="ctr"/>
                      <a:endParaRPr lang="en-US" sz="1000" b="0" i="0" dirty="0">
                        <a:latin typeface="Avenir Book" panose="02000503020000020003" pitchFamily="2" charset="0"/>
                      </a:endParaRPr>
                    </a:p>
                    <a:p>
                      <a:pPr algn="ctr"/>
                      <a:endParaRPr lang="en-US" sz="1000" b="0" i="0" dirty="0">
                        <a:latin typeface="Avenir Book" panose="02000503020000020003" pitchFamily="2" charset="0"/>
                      </a:endParaRPr>
                    </a:p>
                    <a:p>
                      <a:pPr algn="ctr"/>
                      <a:r>
                        <a:rPr lang="en-US" sz="1000" b="0" i="0" dirty="0">
                          <a:latin typeface="Avenir Book" panose="02000503020000020003" pitchFamily="2" charset="0"/>
                        </a:rPr>
                        <a:t>Ground-Up Construction</a:t>
                      </a:r>
                    </a:p>
                  </a:txBody>
                  <a:tcPr marL="68580" marR="68580" marT="34290" marB="34290" anchor="ctr"/>
                </a:tc>
                <a:tc>
                  <a:txBody>
                    <a:bodyPr/>
                    <a:lstStyle/>
                    <a:p>
                      <a:pPr algn="just"/>
                      <a:r>
                        <a:rPr lang="en-US" sz="900" b="0" i="0" dirty="0">
                          <a:latin typeface="Avenir Book" panose="02000503020000020003" pitchFamily="2" charset="0"/>
                        </a:rPr>
                        <a:t>Demolish existing improvements and build a Class A mixed-use building. MJM Construction as GC; KSS Architecture. Critical-path schedule shows a 24-month construction cycle from foundation through TCO and punchlist (Q2 2027 → Q1 2029). Hard cost budget $56.9M ($381/SF); 4% project contingency held against scope risk.</a:t>
                      </a:r>
                    </a:p>
                  </a:txBody>
                  <a:tcPr marL="68580" marR="68580" marT="34290" marB="34290" anchor="ctr"/>
                </a:tc>
                <a:tc>
                  <a:txBody>
                    <a:bodyPr/>
                    <a:lstStyle/>
                    <a:p>
                      <a:pPr algn="ctr"/>
                      <a:r>
                        <a:rPr lang="en-US" sz="1000" b="0" i="0" dirty="0">
                          <a:latin typeface="Avenir Book" panose="02000503020000020003" pitchFamily="2" charset="0"/>
                        </a:rPr>
                        <a:t>Q2 2027 – Q1 2029</a:t>
                      </a:r>
                    </a:p>
                  </a:txBody>
                  <a:tcPr marL="68580" marR="68580" marT="34290" marB="34290" anchor="ctr"/>
                </a:tc>
                <a:tc>
                  <a:txBody>
                    <a:bodyPr/>
                    <a:lstStyle/>
                    <a:p>
                      <a:pPr algn="ctr"/>
                      <a:r>
                        <a:rPr lang="en-US" sz="1000" b="0" i="0" dirty="0">
                          <a:latin typeface="Avenir Book" panose="02000503020000020003" pitchFamily="2" charset="0"/>
                        </a:rPr>
                        <a:t>$56.9M hard</a:t>
                      </a:r>
                    </a:p>
                  </a:txBody>
                  <a:tcPr marL="68580" marR="68580" marT="34290" marB="34290" anchor="ctr"/>
                </a:tc>
                <a:tc>
                  <a:txBody>
                    <a:bodyPr/>
                    <a:lstStyle/>
                    <a:p>
                      <a:pPr algn="ctr"/>
                      <a:r>
                        <a:rPr lang="en-US" sz="1000" b="0" i="0" dirty="0">
                          <a:latin typeface="Avenir Book" panose="02000503020000020003" pitchFamily="2" charset="0"/>
                        </a:rPr>
                        <a:t>157K SF GBA</a:t>
                      </a:r>
                    </a:p>
                  </a:txBody>
                  <a:tcPr marL="68580" marR="68580" marT="34290" marB="34290" anchor="ctr"/>
                </a:tc>
                <a:extLst>
                  <a:ext uri="{0D108BD9-81ED-4DB2-BD59-A6C34878D82A}">
                    <a16:rowId xmlns:a16="http://schemas.microsoft.com/office/drawing/2014/main" val="3738189413"/>
                  </a:ext>
                </a:extLst>
              </a:tr>
              <a:tr h="817013">
                <a:tc>
                  <a:txBody>
                    <a:bodyPr/>
                    <a:lstStyle/>
                    <a:p>
                      <a:pPr algn="ctr"/>
                      <a:endParaRPr lang="en-US" sz="900" dirty="0">
                        <a:latin typeface="Avenir Book" panose="02000503020000020003" pitchFamily="2" charset="0"/>
                      </a:endParaRPr>
                    </a:p>
                  </a:txBody>
                  <a:tcPr marL="68580" marR="68580" marT="34290" marB="34290" anchor="ctr"/>
                </a:tc>
                <a:tc>
                  <a:txBody>
                    <a:bodyPr/>
                    <a:lstStyle/>
                    <a:p>
                      <a:pPr algn="ctr"/>
                      <a:r>
                        <a:rPr lang="en-US" sz="1000" b="0" i="0" dirty="0">
                          <a:latin typeface="Avenir Book" panose="02000503020000020003" pitchFamily="2" charset="0"/>
                        </a:rPr>
                        <a:t>Condo Conversion &amp; Delivery</a:t>
                      </a:r>
                    </a:p>
                  </a:txBody>
                  <a:tcPr marL="68580" marR="68580" marT="34290" marB="34290" anchor="ctr"/>
                </a:tc>
                <a:tc>
                  <a:txBody>
                    <a:bodyPr/>
                    <a:lstStyle/>
                    <a:p>
                      <a:pPr algn="just"/>
                      <a:r>
                        <a:rPr lang="en-US" sz="900" b="0" i="0" dirty="0">
                          <a:latin typeface="Avenir Book" panose="02000503020000020003" pitchFamily="2" charset="0"/>
                        </a:rPr>
                        <a:t>File a condominium declaration and split the building vertically into two condo units: a 150,000 SF office condo for Bronx Defenders and a 7,000 SF ground-floor retail condo, with shared lobby/parking commons. Deliver the office condo to Bronx Defenders under the build-to-suit lease; retain the retail condo on the balance sheet.</a:t>
                      </a:r>
                    </a:p>
                  </a:txBody>
                  <a:tcPr marL="68580" marR="68580" marT="34290" marB="34290" anchor="ctr"/>
                </a:tc>
                <a:tc>
                  <a:txBody>
                    <a:bodyPr/>
                    <a:lstStyle/>
                    <a:p>
                      <a:pPr algn="ctr"/>
                      <a:r>
                        <a:rPr lang="en-US" sz="1000" b="0" i="0" dirty="0">
                          <a:latin typeface="Avenir Book" panose="02000503020000020003" pitchFamily="2" charset="0"/>
                        </a:rPr>
                        <a:t>Q1 2029 Delivery</a:t>
                      </a:r>
                    </a:p>
                  </a:txBody>
                  <a:tcPr marL="68580" marR="68580" marT="34290" marB="34290" anchor="ctr"/>
                </a:tc>
                <a:tc>
                  <a:txBody>
                    <a:bodyPr/>
                    <a:lstStyle/>
                    <a:p>
                      <a:pPr algn="ctr"/>
                      <a:r>
                        <a:rPr lang="en-US" sz="1000" b="0" i="0" dirty="0">
                          <a:latin typeface="Avenir Book" panose="02000503020000020003" pitchFamily="2" charset="0"/>
                        </a:rPr>
                        <a:t>150K + 7K SF</a:t>
                      </a:r>
                    </a:p>
                  </a:txBody>
                  <a:tcPr marL="68580" marR="68580" marT="34290" marB="34290" anchor="ctr"/>
                </a:tc>
                <a:tc>
                  <a:txBody>
                    <a:bodyPr/>
                    <a:lstStyle/>
                    <a:p>
                      <a:pPr algn="ctr"/>
                      <a:r>
                        <a:rPr lang="en-US" sz="1000" b="0" i="0" dirty="0">
                          <a:latin typeface="Avenir Book" panose="02000503020000020003" pitchFamily="2" charset="0"/>
                        </a:rPr>
                        <a:t>BTS Condo Split</a:t>
                      </a:r>
                    </a:p>
                  </a:txBody>
                  <a:tcPr marL="68580" marR="68580" marT="34290" marB="34290" anchor="ctr"/>
                </a:tc>
                <a:extLst>
                  <a:ext uri="{0D108BD9-81ED-4DB2-BD59-A6C34878D82A}">
                    <a16:rowId xmlns:a16="http://schemas.microsoft.com/office/drawing/2014/main" val="478480583"/>
                  </a:ext>
                </a:extLst>
              </a:tr>
            </a:tbl>
          </a:graphicData>
        </a:graphic>
      </p:graphicFrame>
      <p:pic>
        <p:nvPicPr>
          <p:cNvPr id="3" name="Content Placeholder 6">
            <a:extLst>
              <a:ext uri="{FF2B5EF4-FFF2-40B4-BE49-F238E27FC236}">
                <a16:creationId xmlns:a16="http://schemas.microsoft.com/office/drawing/2014/main" id="{60A22599-A8C8-C2FA-FE9A-C821BFF1BDD9}"/>
              </a:ext>
            </a:extLst>
          </p:cNvPr>
          <p:cNvPicPr>
            <a:picLocks noGrp="1" noChangeAspect="1"/>
          </p:cNvPicPr>
          <p:nvPr>
            <p:ph idx="1"/>
          </p:nvPr>
        </p:nvPicPr>
        <p:blipFill>
          <a:blip r:embed="rId3"/>
          <a:srcRect l="7087" r="6407"/>
          <a:stretch>
            <a:fillRect/>
          </a:stretch>
        </p:blipFill>
        <p:spPr>
          <a:xfrm>
            <a:off x="107113" y="1337636"/>
            <a:ext cx="2105370" cy="807092"/>
          </a:xfrm>
          <a:ln>
            <a:noFill/>
          </a:ln>
        </p:spPr>
      </p:pic>
      <p:pic>
        <p:nvPicPr>
          <p:cNvPr id="4" name="Picture 3" descr="A building with glass windows  AI-generated content may be incorrect.">
            <a:extLst>
              <a:ext uri="{FF2B5EF4-FFF2-40B4-BE49-F238E27FC236}">
                <a16:creationId xmlns:a16="http://schemas.microsoft.com/office/drawing/2014/main" id="{71508E49-F5A4-FBFE-50FD-A44936CB193E}"/>
              </a:ext>
            </a:extLst>
          </p:cNvPr>
          <p:cNvPicPr>
            <a:picLocks/>
          </p:cNvPicPr>
          <p:nvPr/>
        </p:nvPicPr>
        <p:blipFill>
          <a:blip r:embed="rId4"/>
          <a:srcRect b="3067"/>
          <a:stretch>
            <a:fillRect/>
          </a:stretch>
        </p:blipFill>
        <p:spPr>
          <a:xfrm>
            <a:off x="107112" y="4835388"/>
            <a:ext cx="2105371" cy="807092"/>
          </a:xfrm>
          <a:prstGeom prst="rect">
            <a:avLst/>
          </a:prstGeom>
          <a:ln>
            <a:noFill/>
          </a:ln>
        </p:spPr>
      </p:pic>
      <p:pic>
        <p:nvPicPr>
          <p:cNvPr id="5" name="Picture 4">
            <a:extLst>
              <a:ext uri="{FF2B5EF4-FFF2-40B4-BE49-F238E27FC236}">
                <a16:creationId xmlns:a16="http://schemas.microsoft.com/office/drawing/2014/main" id="{6E3B53E3-33C5-7077-DCCD-6F833982D80E}"/>
              </a:ext>
            </a:extLst>
          </p:cNvPr>
          <p:cNvPicPr>
            <a:picLocks noChangeAspect="1"/>
          </p:cNvPicPr>
          <p:nvPr/>
        </p:nvPicPr>
        <p:blipFill>
          <a:blip r:embed="rId5"/>
          <a:stretch>
            <a:fillRect/>
          </a:stretch>
        </p:blipFill>
        <p:spPr>
          <a:xfrm>
            <a:off x="107113" y="2152998"/>
            <a:ext cx="2105370" cy="808516"/>
          </a:xfrm>
          <a:prstGeom prst="rect">
            <a:avLst/>
          </a:prstGeom>
          <a:ln>
            <a:noFill/>
          </a:ln>
        </p:spPr>
      </p:pic>
      <p:pic>
        <p:nvPicPr>
          <p:cNvPr id="8" name="Picture 7">
            <a:extLst>
              <a:ext uri="{FF2B5EF4-FFF2-40B4-BE49-F238E27FC236}">
                <a16:creationId xmlns:a16="http://schemas.microsoft.com/office/drawing/2014/main" id="{D4F48CD8-F12D-B9A2-2A0C-AE382A75E567}"/>
              </a:ext>
            </a:extLst>
          </p:cNvPr>
          <p:cNvPicPr preferRelativeResize="0">
            <a:picLocks/>
          </p:cNvPicPr>
          <p:nvPr/>
        </p:nvPicPr>
        <p:blipFill>
          <a:blip r:embed="rId6"/>
          <a:srcRect t="17508" b="19957"/>
          <a:stretch>
            <a:fillRect/>
          </a:stretch>
        </p:blipFill>
        <p:spPr>
          <a:xfrm>
            <a:off x="107112" y="2969944"/>
            <a:ext cx="2105370" cy="807092"/>
          </a:xfrm>
          <a:prstGeom prst="rect">
            <a:avLst/>
          </a:prstGeom>
          <a:ln>
            <a:noFill/>
          </a:ln>
        </p:spPr>
      </p:pic>
      <p:pic>
        <p:nvPicPr>
          <p:cNvPr id="9" name="Picture 8">
            <a:extLst>
              <a:ext uri="{FF2B5EF4-FFF2-40B4-BE49-F238E27FC236}">
                <a16:creationId xmlns:a16="http://schemas.microsoft.com/office/drawing/2014/main" id="{77329751-0FF0-C5CB-C234-B97C94389424}"/>
              </a:ext>
            </a:extLst>
          </p:cNvPr>
          <p:cNvPicPr>
            <a:picLocks noChangeAspect="1"/>
          </p:cNvPicPr>
          <p:nvPr/>
        </p:nvPicPr>
        <p:blipFill rotWithShape="1">
          <a:blip r:embed="rId7"/>
          <a:srcRect t="3653" b="-1"/>
          <a:stretch/>
        </p:blipFill>
        <p:spPr>
          <a:xfrm>
            <a:off x="107116" y="3787897"/>
            <a:ext cx="1199058" cy="1037017"/>
          </a:xfrm>
          <a:prstGeom prst="rect">
            <a:avLst/>
          </a:prstGeom>
          <a:ln>
            <a:noFill/>
          </a:ln>
        </p:spPr>
      </p:pic>
      <p:pic>
        <p:nvPicPr>
          <p:cNvPr id="11" name="Picture 10" descr="A room with a large wall and a large artwork  AI-generated content may be incorrect.">
            <a:extLst>
              <a:ext uri="{FF2B5EF4-FFF2-40B4-BE49-F238E27FC236}">
                <a16:creationId xmlns:a16="http://schemas.microsoft.com/office/drawing/2014/main" id="{F83691CE-1428-203C-89D3-FDA1B5637548}"/>
              </a:ext>
            </a:extLst>
          </p:cNvPr>
          <p:cNvPicPr>
            <a:picLocks noChangeAspect="1"/>
          </p:cNvPicPr>
          <p:nvPr/>
        </p:nvPicPr>
        <p:blipFill>
          <a:blip r:embed="rId8"/>
          <a:srcRect l="14260" t="21196" r="6767" b="7181"/>
          <a:stretch>
            <a:fillRect/>
          </a:stretch>
        </p:blipFill>
        <p:spPr>
          <a:xfrm>
            <a:off x="1109471" y="3785466"/>
            <a:ext cx="1103011" cy="1039982"/>
          </a:xfrm>
          <a:prstGeom prst="rect">
            <a:avLst/>
          </a:prstGeom>
          <a:ln>
            <a:noFill/>
          </a:ln>
        </p:spPr>
      </p:pic>
      <p:sp>
        <p:nvSpPr>
          <p:cNvPr id="20" name="Title 19">
            <a:extLst>
              <a:ext uri="{FF2B5EF4-FFF2-40B4-BE49-F238E27FC236}">
                <a16:creationId xmlns:a16="http://schemas.microsoft.com/office/drawing/2014/main" id="{D2ED3A9F-D601-4288-32A0-56875196ABF7}"/>
              </a:ext>
            </a:extLst>
          </p:cNvPr>
          <p:cNvSpPr>
            <a:spLocks noGrp="1"/>
          </p:cNvSpPr>
          <p:nvPr>
            <p:ph type="title"/>
          </p:nvPr>
        </p:nvSpPr>
        <p:spPr>
          <a:xfrm>
            <a:off x="339283" y="-92565"/>
            <a:ext cx="7886700" cy="1325563"/>
          </a:xfrm>
        </p:spPr>
        <p:txBody>
          <a:bodyPr>
            <a:normAutofit/>
          </a:bodyPr>
          <a:lstStyle/>
          <a:p>
            <a:r>
              <a:rPr lang="en-US" sz="2800" dirty="0">
                <a:latin typeface="Georgia" panose="02040502050405020303" pitchFamily="18" charset="0"/>
              </a:rPr>
              <a:t>Site &amp; Deal Structure</a:t>
            </a:r>
          </a:p>
        </p:txBody>
      </p:sp>
      <p:pic>
        <p:nvPicPr>
          <p:cNvPr id="3074" name="Picture 2" descr="Celularity Inc. (NASDAQ:CELU ...">
            <a:extLst>
              <a:ext uri="{FF2B5EF4-FFF2-40B4-BE49-F238E27FC236}">
                <a16:creationId xmlns:a16="http://schemas.microsoft.com/office/drawing/2014/main" id="{01AF2DC9-AA89-BEEF-F094-BBDCF43A1382}"/>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23266" t="33696" r="23671" b="36329"/>
          <a:stretch>
            <a:fillRect/>
          </a:stretch>
        </p:blipFill>
        <p:spPr bwMode="auto">
          <a:xfrm>
            <a:off x="2628836" y="2298733"/>
            <a:ext cx="345688" cy="19527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BASF - Wikipedia">
            <a:extLst>
              <a:ext uri="{FF2B5EF4-FFF2-40B4-BE49-F238E27FC236}">
                <a16:creationId xmlns:a16="http://schemas.microsoft.com/office/drawing/2014/main" id="{927E0B20-8EDF-3616-2305-A6BBF251DCF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38463" y="3124119"/>
            <a:ext cx="533052" cy="192412"/>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46183298-C411-558F-9E75-91FCCF2AD1F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96291" y="4100580"/>
            <a:ext cx="547683" cy="117441"/>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a:extLst>
              <a:ext uri="{FF2B5EF4-FFF2-40B4-BE49-F238E27FC236}">
                <a16:creationId xmlns:a16="http://schemas.microsoft.com/office/drawing/2014/main" id="{6AFE4A2A-BC2A-4ED4-B66A-CD6F51184C1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31845" y="1625697"/>
            <a:ext cx="539670" cy="11548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5E6C19C-B184-42D2-9973-420B05447F9A}"/>
              </a:ext>
            </a:extLst>
          </p:cNvPr>
          <p:cNvSpPr txBox="1"/>
          <p:nvPr/>
        </p:nvSpPr>
        <p:spPr>
          <a:xfrm>
            <a:off x="510364" y="6209796"/>
            <a:ext cx="4582632" cy="400110"/>
          </a:xfrm>
          <a:prstGeom prst="rect">
            <a:avLst/>
          </a:prstGeom>
          <a:noFill/>
        </p:spPr>
        <p:txBody>
          <a:bodyPr wrap="square">
            <a:spAutoFit/>
          </a:bodyPr>
          <a:lstStyle/>
          <a:p>
            <a:r>
              <a:rPr lang="en-US" sz="2000" dirty="0">
                <a:solidFill>
                  <a:schemeClr val="bg1"/>
                </a:solidFill>
                <a:latin typeface="Georgia" panose="02040502050405020303" pitchFamily="18" charset="0"/>
              </a:rPr>
              <a:t/>
            </a:r>
          </a:p>
        </p:txBody>
      </p:sp>
      <p:sp>
        <p:nvSpPr>
          <p:cNvPr id="10" name="TextBox 9">
            <a:extLst>
              <a:ext uri="{FF2B5EF4-FFF2-40B4-BE49-F238E27FC236}">
                <a16:creationId xmlns:a16="http://schemas.microsoft.com/office/drawing/2014/main" id="{D6E976C6-F322-CB25-C8CB-3EC98307B275}"/>
              </a:ext>
            </a:extLst>
          </p:cNvPr>
          <p:cNvSpPr txBox="1"/>
          <p:nvPr/>
        </p:nvSpPr>
        <p:spPr>
          <a:xfrm>
            <a:off x="510364" y="6209796"/>
            <a:ext cx="4582632" cy="400110"/>
          </a:xfrm>
          <a:prstGeom prst="rect">
            <a:avLst/>
          </a:prstGeom>
          <a:noFill/>
        </p:spPr>
        <p:txBody>
          <a:bodyPr wrap="square">
            <a:spAutoFit/>
          </a:bodyPr>
          <a:lstStyle/>
          <a:p>
            <a:r>
              <a:rPr lang="en-US" sz="2000" dirty="0">
                <a:solidFill>
                  <a:schemeClr val="bg1"/>
                </a:solidFill>
                <a:latin typeface="Georgia" panose="02040502050405020303" pitchFamily="18" charset="0"/>
              </a:rPr>
              <a:t/>
            </a:r>
          </a:p>
        </p:txBody>
      </p:sp>
      <p:sp>
        <p:nvSpPr>
          <p:cNvPr id="12" name="Rectangle 11">
            <a:extLst>
              <a:ext uri="{FF2B5EF4-FFF2-40B4-BE49-F238E27FC236}">
                <a16:creationId xmlns:a16="http://schemas.microsoft.com/office/drawing/2014/main" id="{BE4179AA-1B79-561F-5ECC-62F55B5A2234}"/>
              </a:ext>
            </a:extLst>
          </p:cNvPr>
          <p:cNvSpPr/>
          <p:nvPr/>
        </p:nvSpPr>
        <p:spPr>
          <a:xfrm>
            <a:off x="-3714" y="5900237"/>
            <a:ext cx="9147714" cy="965200"/>
          </a:xfrm>
          <a:prstGeom prst="rect">
            <a:avLst/>
          </a:prstGeom>
          <a:solidFill>
            <a:srgbClr val="24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a:extLst>
              <a:ext uri="{FF2B5EF4-FFF2-40B4-BE49-F238E27FC236}">
                <a16:creationId xmlns:a16="http://schemas.microsoft.com/office/drawing/2014/main" id="{B38BEF16-0387-6394-51CF-2CA88AEE52BE}"/>
              </a:ext>
            </a:extLst>
          </p:cNvPr>
          <p:cNvPicPr>
            <a:picLocks noChangeAspect="1"/>
          </p:cNvPicPr>
          <p:nvPr/>
        </p:nvPicPr>
        <p:blipFill>
          <a:blip r:embed="rId13"/>
          <a:stretch>
            <a:fillRect/>
          </a:stretch>
        </p:blipFill>
        <p:spPr>
          <a:xfrm>
            <a:off x="7587808" y="6280853"/>
            <a:ext cx="1357545" cy="257995"/>
          </a:xfrm>
          <a:prstGeom prst="rect">
            <a:avLst/>
          </a:prstGeom>
        </p:spPr>
      </p:pic>
      <p:sp>
        <p:nvSpPr>
          <p:cNvPr id="14" name="TextBox 13">
            <a:extLst>
              <a:ext uri="{FF2B5EF4-FFF2-40B4-BE49-F238E27FC236}">
                <a16:creationId xmlns:a16="http://schemas.microsoft.com/office/drawing/2014/main" id="{ACB49187-31A9-8DD9-FE22-D9A9F2D306DB}"/>
              </a:ext>
            </a:extLst>
          </p:cNvPr>
          <p:cNvSpPr txBox="1"/>
          <p:nvPr/>
        </p:nvSpPr>
        <p:spPr>
          <a:xfrm>
            <a:off x="244550" y="6267847"/>
            <a:ext cx="4582632" cy="276999"/>
          </a:xfrm>
          <a:prstGeom prst="rect">
            <a:avLst/>
          </a:prstGeom>
          <a:noFill/>
        </p:spPr>
        <p:txBody>
          <a:bodyPr wrap="square">
            <a:spAutoFit/>
          </a:bodyPr>
          <a:lstStyle/>
          <a:p>
            <a:r>
              <a:rPr lang="en-US" sz="1200" dirty="0">
                <a:solidFill>
                  <a:schemeClr val="bg1"/>
                </a:solidFill>
                <a:latin typeface="Avenir Book" panose="02000503020000020003" pitchFamily="2" charset="0"/>
              </a:rPr>
              <a:t>67 East 161st Street — Bronx Defenders Development</a:t>
            </a:r>
          </a:p>
        </p:txBody>
      </p:sp>
      <p:sp>
        <p:nvSpPr>
          <p:cNvPr id="15" name="Slide Number Placeholder 1">
            <a:extLst>
              <a:ext uri="{FF2B5EF4-FFF2-40B4-BE49-F238E27FC236}">
                <a16:creationId xmlns:a16="http://schemas.microsoft.com/office/drawing/2014/main" id="{CFE9F29C-FBB3-6F9A-11F4-566F0D356C62}"/>
              </a:ext>
            </a:extLst>
          </p:cNvPr>
          <p:cNvSpPr>
            <a:spLocks noGrp="1"/>
          </p:cNvSpPr>
          <p:nvPr>
            <p:ph type="sldNum" sz="quarter" idx="12"/>
          </p:nvPr>
        </p:nvSpPr>
        <p:spPr>
          <a:xfrm>
            <a:off x="8875968" y="6555065"/>
            <a:ext cx="661732" cy="365125"/>
          </a:xfrm>
        </p:spPr>
        <p:txBody>
          <a:bodyPr/>
          <a:lstStyle/>
          <a:p>
            <a:fld id="{D80FDC49-7799-154F-AEB4-2120C2C6BE6C}" type="slidenum">
              <a:rPr lang="en-US" smtClean="0"/>
              <a:t>8</a:t>
            </a:fld>
            <a:endParaRPr lang="en-US" dirty="0"/>
          </a:p>
        </p:txBody>
      </p:sp>
    </p:spTree>
    <p:extLst>
      <p:ext uri="{BB962C8B-B14F-4D97-AF65-F5344CB8AC3E}">
        <p14:creationId xmlns:p14="http://schemas.microsoft.com/office/powerpoint/2010/main" val="2776721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63A5F-53AF-8505-36BD-5220F0E609BC}"/>
            </a:ext>
          </a:extLst>
        </p:cNvPr>
        <p:cNvGrpSpPr/>
        <p:nvPr/>
      </p:nvGrpSpPr>
      <p:grpSpPr>
        <a:xfrm>
          <a:off x="0" y="0"/>
          <a:ext cx="0" cy="0"/>
          <a:chOff x="0" y="0"/>
          <a:chExt cx="0" cy="0"/>
        </a:xfrm>
      </p:grpSpPr>
      <p:sp>
        <p:nvSpPr>
          <p:cNvPr id="19" name="Title 19">
            <a:extLst>
              <a:ext uri="{FF2B5EF4-FFF2-40B4-BE49-F238E27FC236}">
                <a16:creationId xmlns:a16="http://schemas.microsoft.com/office/drawing/2014/main" id="{0FF8CE03-C4B9-4F90-5380-C45E333A42E6}"/>
              </a:ext>
            </a:extLst>
          </p:cNvPr>
          <p:cNvSpPr txBox="1">
            <a:spLocks/>
          </p:cNvSpPr>
          <p:nvPr/>
        </p:nvSpPr>
        <p:spPr>
          <a:xfrm>
            <a:off x="339283" y="-92565"/>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latin typeface="Georgia" panose="02040502050405020303" pitchFamily="18" charset="0"/>
              </a:rPr>
              <a:t>Pro-Forma Summary</a:t>
            </a:r>
          </a:p>
        </p:txBody>
      </p:sp>
      <p:sp>
        <p:nvSpPr>
          <p:cNvPr id="20" name="TextBox 19">
            <a:extLst>
              <a:ext uri="{FF2B5EF4-FFF2-40B4-BE49-F238E27FC236}">
                <a16:creationId xmlns:a16="http://schemas.microsoft.com/office/drawing/2014/main" id="{DC3E500E-A5D2-5B5E-5D2E-A42DEC9F82BE}"/>
              </a:ext>
            </a:extLst>
          </p:cNvPr>
          <p:cNvSpPr txBox="1"/>
          <p:nvPr/>
        </p:nvSpPr>
        <p:spPr>
          <a:xfrm>
            <a:off x="7038825" y="5613832"/>
            <a:ext cx="803425" cy="246221"/>
          </a:xfrm>
          <a:prstGeom prst="rect">
            <a:avLst/>
          </a:prstGeom>
          <a:noFill/>
        </p:spPr>
        <p:txBody>
          <a:bodyPr wrap="none" rtlCol="0">
            <a:spAutoFit/>
          </a:bodyPr>
          <a:lstStyle/>
          <a:p>
            <a:r>
              <a:rPr lang="en-US" sz="1000" dirty="0"/>
              <a:t>Base case per FM 161st Development Model v5 (5.4.2026). Sale-at-stabilization scenario.</a:t>
            </a:r>
          </a:p>
        </p:txBody>
      </p:sp>
      <p:sp>
        <p:nvSpPr>
          <p:cNvPr id="3" name="TextBox 2">
            <a:extLst>
              <a:ext uri="{FF2B5EF4-FFF2-40B4-BE49-F238E27FC236}">
                <a16:creationId xmlns:a16="http://schemas.microsoft.com/office/drawing/2014/main" id="{2EF9D05C-C6CD-31F5-E053-AD493334D0B9}"/>
              </a:ext>
            </a:extLst>
          </p:cNvPr>
          <p:cNvSpPr txBox="1"/>
          <p:nvPr/>
        </p:nvSpPr>
        <p:spPr>
          <a:xfrm>
            <a:off x="510364" y="6209796"/>
            <a:ext cx="4582632" cy="400110"/>
          </a:xfrm>
          <a:prstGeom prst="rect">
            <a:avLst/>
          </a:prstGeom>
          <a:noFill/>
        </p:spPr>
        <p:txBody>
          <a:bodyPr wrap="square">
            <a:spAutoFit/>
          </a:bodyPr>
          <a:lstStyle/>
          <a:p>
            <a:r>
              <a:rPr lang="en-US" sz="2000" dirty="0">
                <a:solidFill>
                  <a:schemeClr val="bg1"/>
                </a:solidFill>
                <a:latin typeface="Georgia" panose="02040502050405020303" pitchFamily="18" charset="0"/>
              </a:rPr>
              <a:t/>
            </a:r>
          </a:p>
        </p:txBody>
      </p:sp>
      <p:sp>
        <p:nvSpPr>
          <p:cNvPr id="4" name="TextBox 3">
            <a:extLst>
              <a:ext uri="{FF2B5EF4-FFF2-40B4-BE49-F238E27FC236}">
                <a16:creationId xmlns:a16="http://schemas.microsoft.com/office/drawing/2014/main" id="{014DE44C-0134-32DF-2ADF-2BBEAB71A06F}"/>
              </a:ext>
            </a:extLst>
          </p:cNvPr>
          <p:cNvSpPr txBox="1"/>
          <p:nvPr/>
        </p:nvSpPr>
        <p:spPr>
          <a:xfrm>
            <a:off x="510364" y="6209796"/>
            <a:ext cx="4582632" cy="400110"/>
          </a:xfrm>
          <a:prstGeom prst="rect">
            <a:avLst/>
          </a:prstGeom>
          <a:noFill/>
        </p:spPr>
        <p:txBody>
          <a:bodyPr wrap="square">
            <a:spAutoFit/>
          </a:bodyPr>
          <a:lstStyle/>
          <a:p>
            <a:r>
              <a:rPr lang="en-US" sz="2000" dirty="0">
                <a:solidFill>
                  <a:schemeClr val="bg1"/>
                </a:solidFill>
                <a:latin typeface="Georgia" panose="02040502050405020303" pitchFamily="18" charset="0"/>
              </a:rPr>
              <a:t/>
            </a:r>
          </a:p>
        </p:txBody>
      </p:sp>
      <p:sp>
        <p:nvSpPr>
          <p:cNvPr id="5" name="Rectangle 4">
            <a:extLst>
              <a:ext uri="{FF2B5EF4-FFF2-40B4-BE49-F238E27FC236}">
                <a16:creationId xmlns:a16="http://schemas.microsoft.com/office/drawing/2014/main" id="{C2EEC340-26B1-9A7D-31D4-905B8F09A729}"/>
              </a:ext>
            </a:extLst>
          </p:cNvPr>
          <p:cNvSpPr/>
          <p:nvPr/>
        </p:nvSpPr>
        <p:spPr>
          <a:xfrm>
            <a:off x="-3714" y="5900237"/>
            <a:ext cx="9147714" cy="965200"/>
          </a:xfrm>
          <a:prstGeom prst="rect">
            <a:avLst/>
          </a:prstGeom>
          <a:solidFill>
            <a:srgbClr val="24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E5771229-124E-FB35-651F-8525B559CEE4}"/>
              </a:ext>
            </a:extLst>
          </p:cNvPr>
          <p:cNvPicPr>
            <a:picLocks noChangeAspect="1"/>
          </p:cNvPicPr>
          <p:nvPr/>
        </p:nvPicPr>
        <p:blipFill>
          <a:blip r:embed="rId2"/>
          <a:stretch>
            <a:fillRect/>
          </a:stretch>
        </p:blipFill>
        <p:spPr>
          <a:xfrm>
            <a:off x="7587808" y="6280853"/>
            <a:ext cx="1357545" cy="257995"/>
          </a:xfrm>
          <a:prstGeom prst="rect">
            <a:avLst/>
          </a:prstGeom>
        </p:spPr>
      </p:pic>
      <p:sp>
        <p:nvSpPr>
          <p:cNvPr id="7" name="TextBox 6">
            <a:extLst>
              <a:ext uri="{FF2B5EF4-FFF2-40B4-BE49-F238E27FC236}">
                <a16:creationId xmlns:a16="http://schemas.microsoft.com/office/drawing/2014/main" id="{3537E032-FB04-E02E-48A3-61A03CE4A163}"/>
              </a:ext>
            </a:extLst>
          </p:cNvPr>
          <p:cNvSpPr txBox="1"/>
          <p:nvPr/>
        </p:nvSpPr>
        <p:spPr>
          <a:xfrm>
            <a:off x="244550" y="6267847"/>
            <a:ext cx="4582632" cy="276999"/>
          </a:xfrm>
          <a:prstGeom prst="rect">
            <a:avLst/>
          </a:prstGeom>
          <a:noFill/>
        </p:spPr>
        <p:txBody>
          <a:bodyPr wrap="square">
            <a:spAutoFit/>
          </a:bodyPr>
          <a:lstStyle/>
          <a:p>
            <a:r>
              <a:rPr lang="en-US" sz="1200" dirty="0">
                <a:solidFill>
                  <a:schemeClr val="bg1"/>
                </a:solidFill>
                <a:latin typeface="Avenir Book" panose="02000503020000020003" pitchFamily="2" charset="0"/>
              </a:rPr>
              <a:t>67 East 161st Street — Bronx Defenders Development</a:t>
            </a:r>
          </a:p>
        </p:txBody>
      </p:sp>
      <p:sp>
        <p:nvSpPr>
          <p:cNvPr id="8" name="Slide Number Placeholder 1">
            <a:extLst>
              <a:ext uri="{FF2B5EF4-FFF2-40B4-BE49-F238E27FC236}">
                <a16:creationId xmlns:a16="http://schemas.microsoft.com/office/drawing/2014/main" id="{BD035231-F789-B708-86DA-3687EA1AAE87}"/>
              </a:ext>
            </a:extLst>
          </p:cNvPr>
          <p:cNvSpPr>
            <a:spLocks noGrp="1"/>
          </p:cNvSpPr>
          <p:nvPr>
            <p:ph type="sldNum" sz="quarter" idx="12"/>
          </p:nvPr>
        </p:nvSpPr>
        <p:spPr>
          <a:xfrm>
            <a:off x="8875968" y="6555065"/>
            <a:ext cx="533846" cy="365125"/>
          </a:xfrm>
        </p:spPr>
        <p:txBody>
          <a:bodyPr/>
          <a:lstStyle/>
          <a:p>
            <a:fld id="{D80FDC49-7799-154F-AEB4-2120C2C6BE6C}" type="slidenum">
              <a:rPr lang="en-US" smtClean="0"/>
              <a:t>10</a:t>
            </a:fld>
            <a:endParaRPr lang="en-US" dirty="0"/>
          </a:p>
        </p:txBody>
      </p:sp>
      <p:graphicFrame>
        <p:nvGraphicFramePr>
          <p:cNvPr id="2" name="Table 1">
            <a:extLst>
              <a:ext uri="{FF2B5EF4-FFF2-40B4-BE49-F238E27FC236}">
                <a16:creationId xmlns:a16="http://schemas.microsoft.com/office/drawing/2014/main" id="{748EADE9-81BA-B812-DF13-190AD315ECD9}"/>
              </a:ext>
            </a:extLst>
          </p:cNvPr>
          <p:cNvGraphicFramePr>
            <a:graphicFrameLocks noGrp="1"/>
          </p:cNvGraphicFramePr>
          <p:nvPr>
            <p:extLst>
              <p:ext uri="{D42A27DB-BD31-4B8C-83A1-F6EECF244321}">
                <p14:modId xmlns:p14="http://schemas.microsoft.com/office/powerpoint/2010/main" val="3468462683"/>
              </p:ext>
            </p:extLst>
          </p:nvPr>
        </p:nvGraphicFramePr>
        <p:xfrm>
          <a:off x="243073" y="880708"/>
          <a:ext cx="8561644" cy="4692940"/>
        </p:xfrm>
        <a:graphic>
          <a:graphicData uri="http://schemas.openxmlformats.org/drawingml/2006/table">
            <a:tbl>
              <a:tblPr firstRow="1" bandRow="1">
                <a:tableStyleId>{69012ECD-51FC-41F1-AA8D-1B2483CD663E}</a:tableStyleId>
              </a:tblPr>
              <a:tblGrid>
                <a:gridCol w="1239740">
                  <a:extLst>
                    <a:ext uri="{9D8B030D-6E8A-4147-A177-3AD203B41FA5}">
                      <a16:colId xmlns:a16="http://schemas.microsoft.com/office/drawing/2014/main" val="4077358208"/>
                    </a:ext>
                  </a:extLst>
                </a:gridCol>
                <a:gridCol w="1024664">
                  <a:extLst>
                    <a:ext uri="{9D8B030D-6E8A-4147-A177-3AD203B41FA5}">
                      <a16:colId xmlns:a16="http://schemas.microsoft.com/office/drawing/2014/main" val="2380319725"/>
                    </a:ext>
                  </a:extLst>
                </a:gridCol>
                <a:gridCol w="725158">
                  <a:extLst>
                    <a:ext uri="{9D8B030D-6E8A-4147-A177-3AD203B41FA5}">
                      <a16:colId xmlns:a16="http://schemas.microsoft.com/office/drawing/2014/main" val="1792740468"/>
                    </a:ext>
                  </a:extLst>
                </a:gridCol>
                <a:gridCol w="928680">
                  <a:extLst>
                    <a:ext uri="{9D8B030D-6E8A-4147-A177-3AD203B41FA5}">
                      <a16:colId xmlns:a16="http://schemas.microsoft.com/office/drawing/2014/main" val="1893555166"/>
                    </a:ext>
                  </a:extLst>
                </a:gridCol>
                <a:gridCol w="928680">
                  <a:extLst>
                    <a:ext uri="{9D8B030D-6E8A-4147-A177-3AD203B41FA5}">
                      <a16:colId xmlns:a16="http://schemas.microsoft.com/office/drawing/2014/main" val="2134545278"/>
                    </a:ext>
                  </a:extLst>
                </a:gridCol>
                <a:gridCol w="928680">
                  <a:extLst>
                    <a:ext uri="{9D8B030D-6E8A-4147-A177-3AD203B41FA5}">
                      <a16:colId xmlns:a16="http://schemas.microsoft.com/office/drawing/2014/main" val="1339145678"/>
                    </a:ext>
                  </a:extLst>
                </a:gridCol>
                <a:gridCol w="962895">
                  <a:extLst>
                    <a:ext uri="{9D8B030D-6E8A-4147-A177-3AD203B41FA5}">
                      <a16:colId xmlns:a16="http://schemas.microsoft.com/office/drawing/2014/main" val="3322795921"/>
                    </a:ext>
                  </a:extLst>
                </a:gridCol>
                <a:gridCol w="1045142">
                  <a:extLst>
                    <a:ext uri="{9D8B030D-6E8A-4147-A177-3AD203B41FA5}">
                      <a16:colId xmlns:a16="http://schemas.microsoft.com/office/drawing/2014/main" val="2190459085"/>
                    </a:ext>
                  </a:extLst>
                </a:gridCol>
                <a:gridCol w="778005">
                  <a:extLst>
                    <a:ext uri="{9D8B030D-6E8A-4147-A177-3AD203B41FA5}">
                      <a16:colId xmlns:a16="http://schemas.microsoft.com/office/drawing/2014/main" val="588478426"/>
                    </a:ext>
                  </a:extLst>
                </a:gridCol>
              </a:tblGrid>
              <a:tr h="659951">
                <a:tc>
                  <a:txBody>
                    <a:bodyPr/>
                    <a:lstStyle/>
                    <a:p>
                      <a:pPr algn="ctr"/>
                      <a:r>
                        <a:rPr lang="en-US" sz="1100" b="0" i="0" dirty="0">
                          <a:latin typeface="Avenir Book" panose="02000503020000020003" pitchFamily="2" charset="0"/>
                        </a:rPr>
                        <a:t>Line Item</a:t>
                      </a:r>
                    </a:p>
                  </a:txBody>
                  <a:tcPr marL="68580" marR="68580" marT="34290" marB="34290" anchor="ctr">
                    <a:solidFill>
                      <a:srgbClr val="242E3F"/>
                    </a:solidFill>
                  </a:tcPr>
                </a:tc>
                <a:tc>
                  <a:txBody>
                    <a:bodyPr/>
                    <a:lstStyle/>
                    <a:p>
                      <a:pPr algn="ctr"/>
                      <a:r>
                        <a:rPr lang="en-US" sz="1100" b="0" i="0" dirty="0">
                          <a:latin typeface="Avenir Book" panose="02000503020000020003" pitchFamily="2" charset="0"/>
                        </a:rPr>
                        <a:t>Detail</a:t>
                      </a:r>
                    </a:p>
                  </a:txBody>
                  <a:tcPr marL="68580" marR="68580" marT="34290" marB="34290" anchor="ctr">
                    <a:solidFill>
                      <a:srgbClr val="242E3F"/>
                    </a:solidFill>
                  </a:tcPr>
                </a:tc>
                <a:tc>
                  <a:txBody>
                    <a:bodyPr/>
                    <a:lstStyle/>
                    <a:p>
                      <a:pPr algn="ctr"/>
                      <a:r>
                        <a:rPr lang="en-US" sz="1100" b="0" i="0" dirty="0">
                          <a:latin typeface="Avenir Book" panose="02000503020000020003" pitchFamily="2" charset="0"/>
                        </a:rPr>
                        <a:t>Period</a:t>
                      </a:r>
                    </a:p>
                  </a:txBody>
                  <a:tcPr marL="68580" marR="68580" marT="34290" marB="34290" anchor="ctr">
                    <a:solidFill>
                      <a:srgbClr val="242E3F"/>
                    </a:solidFill>
                  </a:tcPr>
                </a:tc>
                <a:tc>
                  <a:txBody>
                    <a:bodyPr/>
                    <a:lstStyle/>
                    <a:p>
                      <a:pPr algn="ctr"/>
                      <a:r>
                        <a:rPr lang="en-US" sz="1100" b="0" i="0" dirty="0">
                          <a:latin typeface="Avenir Book" panose="02000503020000020003" pitchFamily="2" charset="0"/>
                        </a:rPr>
                        <a:t>Amount</a:t>
                      </a:r>
                    </a:p>
                  </a:txBody>
                  <a:tcPr marL="68580" marR="68580" marT="34290" marB="34290" anchor="ctr">
                    <a:solidFill>
                      <a:srgbClr val="242E3F"/>
                    </a:solidFill>
                  </a:tcPr>
                </a:tc>
                <a:tc>
                  <a:txBody>
                    <a:bodyPr/>
                    <a:lstStyle/>
                    <a:p>
                      <a:pPr algn="ctr"/>
                      <a:r>
                        <a:rPr lang="en-US" sz="1100" b="0" i="0" dirty="0">
                          <a:latin typeface="Avenir Book" panose="02000503020000020003" pitchFamily="2" charset="0"/>
                        </a:rPr>
                        <a:t>$/SF</a:t>
                      </a:r>
                    </a:p>
                  </a:txBody>
                  <a:tcPr marL="68580" marR="68580" marT="34290" marB="34290" anchor="ctr">
                    <a:solidFill>
                      <a:srgbClr val="242E3F"/>
                    </a:solidFill>
                  </a:tcPr>
                </a:tc>
                <a:tc>
                  <a:txBody>
                    <a:bodyPr/>
                    <a:lstStyle/>
                    <a:p>
                      <a:pPr algn="ctr"/>
                      <a:r>
                        <a:rPr lang="en-US" sz="1100" b="0" i="0" dirty="0">
                          <a:latin typeface="Avenir Book" panose="02000503020000020003" pitchFamily="2" charset="0"/>
                        </a:rPr>
                        <a:t>% of TPC</a:t>
                      </a:r>
                    </a:p>
                  </a:txBody>
                  <a:tcPr marL="68580" marR="68580" marT="34290" marB="34290" anchor="ctr">
                    <a:solidFill>
                      <a:srgbClr val="242E3F"/>
                    </a:solidFill>
                  </a:tcPr>
                </a:tc>
                <a:tc>
                  <a:txBody>
                    <a:bodyPr/>
                    <a:lstStyle/>
                    <a:p>
                      <a:pPr algn="ctr"/>
                      <a:r>
                        <a:rPr lang="en-US" sz="1100" b="0" i="0" dirty="0">
                          <a:latin typeface="Avenir Book" panose="02000503020000020003" pitchFamily="2" charset="0"/>
                        </a:rPr>
                        <a:t>Stab. NOI</a:t>
                      </a:r>
                    </a:p>
                  </a:txBody>
                  <a:tcPr marL="68580" marR="68580" marT="34290" marB="34290" anchor="ctr">
                    <a:solidFill>
                      <a:srgbClr val="242E3F"/>
                    </a:solidFill>
                  </a:tcPr>
                </a:tc>
                <a:tc>
                  <a:txBody>
                    <a:bodyPr/>
                    <a:lstStyle/>
                    <a:p>
                      <a:pPr algn="ctr"/>
                      <a:r>
                        <a:rPr lang="en-US" sz="1100" b="0" i="0" dirty="0">
                          <a:latin typeface="Avenir Book" panose="02000503020000020003" pitchFamily="2" charset="0"/>
                        </a:rPr>
                        <a:t>Exit / YoC</a:t>
                      </a:r>
                    </a:p>
                  </a:txBody>
                  <a:tcPr marL="68580" marR="68580" marT="34290" marB="34290" anchor="ctr">
                    <a:solidFill>
                      <a:srgbClr val="242E3F"/>
                    </a:solidFill>
                  </a:tcPr>
                </a:tc>
                <a:tc>
                  <a:txBody>
                    <a:bodyPr/>
                    <a:lstStyle/>
                    <a:p>
                      <a:pPr algn="ctr"/>
                      <a:r>
                        <a:rPr lang="en-US" sz="1100" b="0" i="0" dirty="0" err="1">
                          <a:latin typeface="Avenir Book" panose="02000503020000020003" pitchFamily="2" charset="0"/>
                        </a:rPr>
                        <a:t>IRR / EMx</a:t>
                      </a:r>
                      <a:r>
                        <a:rPr lang="en-US" sz="1100" b="0" i="0" dirty="0">
                          <a:latin typeface="Avenir Book" panose="02000503020000020003" pitchFamily="2" charset="0"/>
                        </a:rPr>
                        <a:t xml:space="preserve"> (Base Case)</a:t>
                      </a:r>
                    </a:p>
                  </a:txBody>
                  <a:tcPr marL="68580" marR="68580" marT="34290" marB="34290" anchor="ctr">
                    <a:solidFill>
                      <a:srgbClr val="242E3F"/>
                    </a:solidFill>
                  </a:tcPr>
                </a:tc>
                <a:extLst>
                  <a:ext uri="{0D108BD9-81ED-4DB2-BD59-A6C34878D82A}">
                    <a16:rowId xmlns:a16="http://schemas.microsoft.com/office/drawing/2014/main" val="1146122330"/>
                  </a:ext>
                </a:extLst>
              </a:tr>
              <a:tr h="648044">
                <a:tc>
                  <a:txBody>
                    <a:bodyPr/>
                    <a:lstStyle/>
                    <a:p>
                      <a:pPr algn="ctr"/>
                      <a:r>
                        <a:rPr lang="en-US" sz="1050" b="0" i="0" dirty="0">
                          <a:latin typeface="Avenir Book" panose="02000503020000020003" pitchFamily="2" charset="0"/>
                        </a:rPr>
                        <a:t>Land Assemblage</a:t>
                      </a:r>
                    </a:p>
                    <a:p>
                      <a:pPr algn="ctr"/>
                      <a:r>
                        <a:rPr lang="en-US" sz="800" b="0" i="0" dirty="0">
                          <a:latin typeface="Avenir Book" panose="02000503020000020003" pitchFamily="2" charset="0"/>
                        </a:rPr>
                        <a:t>McDonald’s + Chase</a:t>
                      </a:r>
                      <a:endParaRPr lang="en-US" sz="1050" b="0" i="0" dirty="0">
                        <a:latin typeface="Avenir Book" panose="02000503020000020003" pitchFamily="2" charset="0"/>
                      </a:endParaRPr>
                    </a:p>
                  </a:txBody>
                  <a:tcPr marL="68580" marR="68580" marT="34290" marB="34290" anchor="ctr">
                    <a:solidFill>
                      <a:schemeClr val="bg1">
                        <a:lumMod val="85000"/>
                      </a:schemeClr>
                    </a:solidFill>
                  </a:tcPr>
                </a:tc>
                <a:tc>
                  <a:txBody>
                    <a:bodyPr/>
                    <a:lstStyle/>
                    <a:p>
                      <a:pPr algn="ctr"/>
                      <a:r>
                        <a:rPr lang="en-US" sz="1050" b="0" i="0" dirty="0">
                          <a:latin typeface="Avenir Book" panose="02000503020000020003" pitchFamily="2" charset="0"/>
                        </a:rPr>
                        <a:t>Dec 2026</a:t>
                      </a:r>
                    </a:p>
                  </a:txBody>
                  <a:tcPr marL="68580" marR="68580" marT="34290" marB="34290" anchor="ctr">
                    <a:solidFill>
                      <a:schemeClr val="bg1">
                        <a:lumMod val="85000"/>
                      </a:schemeClr>
                    </a:solidFill>
                  </a:tcPr>
                </a:tc>
                <a:tc>
                  <a:txBody>
                    <a:bodyPr/>
                    <a:lstStyle/>
                    <a:p>
                      <a:pPr algn="ctr" fontAlgn="ctr">
                        <a:buNone/>
                      </a:pPr>
                      <a:r>
                        <a:rPr lang="en-US" sz="1200" b="0" i="0" u="none" strike="noStrike" dirty="0">
                          <a:solidFill>
                            <a:srgbClr val="000000"/>
                          </a:solidFill>
                          <a:effectLst/>
                          <a:latin typeface="Avenir Book" panose="02000503020000020003" pitchFamily="2" charset="0"/>
                        </a:rPr>
                        <a:t>$17.75M</a:t>
                      </a:r>
                    </a:p>
                  </a:txBody>
                  <a:tcPr marL="9525" marR="9525" marT="9525" marB="0" anchor="ctr">
                    <a:solidFill>
                      <a:schemeClr val="bg1">
                        <a:lumMod val="85000"/>
                      </a:schemeClr>
                    </a:solidFill>
                  </a:tcPr>
                </a:tc>
                <a:tc>
                  <a:txBody>
                    <a:bodyPr/>
                    <a:lstStyle/>
                    <a:p>
                      <a:pPr algn="ctr" fontAlgn="ctr">
                        <a:buNone/>
                      </a:pPr>
                      <a:r>
                        <a:rPr lang="en-US" sz="1200" b="0" i="0" u="none" strike="noStrike" dirty="0">
                          <a:solidFill>
                            <a:srgbClr val="000000"/>
                          </a:solidFill>
                          <a:effectLst/>
                          <a:latin typeface="Avenir Book" panose="02000503020000020003" pitchFamily="2" charset="0"/>
                        </a:rPr>
                        <a:t>$113</a:t>
                      </a:r>
                    </a:p>
                  </a:txBody>
                  <a:tcPr marL="9525" marR="9525" marT="9525" marB="0" anchor="ctr">
                    <a:solidFill>
                      <a:schemeClr val="bg1">
                        <a:lumMod val="85000"/>
                      </a:schemeClr>
                    </a:solidFill>
                  </a:tcPr>
                </a:tc>
                <a:tc>
                  <a:txBody>
                    <a:bodyPr/>
                    <a:lstStyle/>
                    <a:p>
                      <a:pPr algn="ctr" fontAlgn="ctr">
                        <a:buNone/>
                      </a:pPr>
                      <a:r>
                        <a:rPr lang="en-US" sz="1200" b="0" i="0" u="none" strike="noStrike" dirty="0">
                          <a:solidFill>
                            <a:srgbClr val="000000"/>
                          </a:solidFill>
                          <a:effectLst/>
                          <a:latin typeface="Avenir Book" panose="02000503020000020003" pitchFamily="2" charset="0"/>
                        </a:rPr>
                        <a:t>17%</a:t>
                      </a:r>
                    </a:p>
                  </a:txBody>
                  <a:tcPr marL="9525" marR="9525" marT="9525" marB="0" anchor="ctr">
                    <a:solidFill>
                      <a:schemeClr val="bg1">
                        <a:lumMod val="85000"/>
                      </a:schemeClr>
                    </a:solidFill>
                  </a:tcPr>
                </a:tc>
                <a:tc>
                  <a:txBody>
                    <a:bodyPr/>
                    <a:lstStyle/>
                    <a:p>
                      <a:pPr algn="ctr" fontAlgn="ctr">
                        <a:buNone/>
                      </a:pPr>
                      <a:r>
                        <a:rPr lang="en-US" sz="1200" b="0" i="0" u="none" strike="noStrike" dirty="0">
                          <a:solidFill>
                            <a:srgbClr val="000000"/>
                          </a:solidFill>
                          <a:effectLst/>
                          <a:latin typeface="Avenir Book" panose="02000503020000020003" pitchFamily="2" charset="0"/>
                        </a:rPr>
                        <a:t>—</a:t>
                      </a:r>
                    </a:p>
                  </a:txBody>
                  <a:tcPr marL="9525" marR="9525" marT="9525" marB="0" anchor="ctr">
                    <a:solidFill>
                      <a:schemeClr val="bg1">
                        <a:lumMod val="85000"/>
                      </a:schemeClr>
                    </a:solidFill>
                  </a:tcPr>
                </a:tc>
                <a:tc>
                  <a:txBody>
                    <a:bodyPr/>
                    <a:lstStyle/>
                    <a:p>
                      <a:pPr algn="ctr" fontAlgn="ctr">
                        <a:buNone/>
                      </a:pPr>
                      <a:endParaRPr lang="en-US" sz="1200" b="0" i="0" u="none" strike="noStrike" dirty="0">
                        <a:solidFill>
                          <a:srgbClr val="000000"/>
                        </a:solidFill>
                        <a:effectLst/>
                        <a:latin typeface="Avenir Book" panose="02000503020000020003" pitchFamily="2" charset="0"/>
                      </a:endParaRPr>
                    </a:p>
                  </a:txBody>
                  <a:tcPr marL="9525" marR="9525" marT="9525" marB="0" anchor="ctr">
                    <a:solidFill>
                      <a:schemeClr val="bg1">
                        <a:lumMod val="85000"/>
                      </a:schemeClr>
                    </a:solidFill>
                  </a:tcPr>
                </a:tc>
                <a:tc>
                  <a:txBody>
                    <a:bodyPr/>
                    <a:lstStyle/>
                    <a:p>
                      <a:pPr algn="ctr" fontAlgn="ctr">
                        <a:buNone/>
                      </a:pPr>
                      <a:r>
                        <a:rPr lang="en-US" sz="1200" b="0" i="0" u="none" strike="noStrike" dirty="0">
                          <a:solidFill>
                            <a:srgbClr val="000000"/>
                          </a:solidFill>
                          <a:effectLst/>
                          <a:latin typeface="Avenir Book" panose="02000503020000020003" pitchFamily="2" charset="0"/>
                        </a:rPr>
                        <a:t>—</a:t>
                      </a:r>
                      <a:br>
                        <a:rPr lang="en-US" sz="1200" b="0" i="0" u="none" strike="noStrike" dirty="0">
                          <a:solidFill>
                            <a:srgbClr val="000000"/>
                          </a:solidFill>
                          <a:effectLst/>
                          <a:latin typeface="Avenir Book" panose="02000503020000020003" pitchFamily="2" charset="0"/>
                        </a:rPr>
                      </a:br>
                      <a:r>
                        <a:rPr lang="en-US" sz="1200" b="0" i="0" u="none" strike="noStrike" dirty="0">
                          <a:solidFill>
                            <a:srgbClr val="000000"/>
                          </a:solidFill>
                          <a:effectLst/>
                          <a:latin typeface="Avenir Book" panose="02000503020000020003" pitchFamily="2" charset="0"/>
                        </a:rPr>
                        <a:t/>
                      </a:r>
                    </a:p>
                  </a:txBody>
                  <a:tcPr marL="9525" marR="9525" marT="9525" marB="0" anchor="ctr">
                    <a:solidFill>
                      <a:schemeClr val="bg1">
                        <a:lumMod val="85000"/>
                      </a:schemeClr>
                    </a:solidFill>
                  </a:tcPr>
                </a:tc>
                <a:tc>
                  <a:txBody>
                    <a:bodyPr/>
                    <a:lstStyle/>
                    <a:p>
                      <a:pPr algn="ctr" fontAlgn="ctr">
                        <a:buNone/>
                      </a:pPr>
                      <a:r>
                        <a:rPr lang="en-US" sz="1200" b="0" i="0" u="none" strike="noStrike" dirty="0">
                          <a:solidFill>
                            <a:srgbClr val="000000"/>
                          </a:solidFill>
                          <a:effectLst/>
                          <a:latin typeface="Avenir Book" panose="02000503020000020003" pitchFamily="2" charset="0"/>
                        </a:rPr>
                        <a:t>—</a:t>
                      </a:r>
                    </a:p>
                  </a:txBody>
                  <a:tcPr marL="9525" marR="9525" marT="9525" marB="0" anchor="ctr">
                    <a:solidFill>
                      <a:schemeClr val="bg1">
                        <a:lumMod val="85000"/>
                      </a:schemeClr>
                    </a:solidFill>
                  </a:tcPr>
                </a:tc>
                <a:extLst>
                  <a:ext uri="{0D108BD9-81ED-4DB2-BD59-A6C34878D82A}">
                    <a16:rowId xmlns:a16="http://schemas.microsoft.com/office/drawing/2014/main" val="2523962456"/>
                  </a:ext>
                </a:extLst>
              </a:tr>
              <a:tr h="550497">
                <a:tc>
                  <a:txBody>
                    <a:bodyPr/>
                    <a:lstStyle/>
                    <a:p>
                      <a:pPr algn="ctr"/>
                      <a:r>
                        <a:rPr lang="en-US" sz="1050" b="0" i="0" dirty="0">
                          <a:latin typeface="Avenir Book" panose="02000503020000020003" pitchFamily="2" charset="0"/>
                        </a:rPr>
                        <a:t>Hard Costs</a:t>
                      </a:r>
                    </a:p>
                    <a:p>
                      <a:pPr algn="ctr"/>
                      <a:r>
                        <a:rPr lang="en-US" sz="800" b="0" i="0" dirty="0">
                          <a:latin typeface="Avenir Book" panose="02000503020000020003" pitchFamily="2" charset="0"/>
                        </a:rPr>
                        <a:t>GC: MJM Construction</a:t>
                      </a:r>
                      <a:endParaRPr lang="en-US" sz="1050" b="0" i="0" dirty="0">
                        <a:latin typeface="Avenir Book" panose="02000503020000020003" pitchFamily="2" charset="0"/>
                      </a:endParaRPr>
                    </a:p>
                  </a:txBody>
                  <a:tcPr marL="68580" marR="68580" marT="34290" marB="34290" anchor="ctr"/>
                </a:tc>
                <a:tc>
                  <a:txBody>
                    <a:bodyPr/>
                    <a:lstStyle/>
                    <a:p>
                      <a:pPr algn="ctr"/>
                      <a:r>
                        <a:rPr lang="en-US" sz="1050" b="0" i="0" dirty="0">
                          <a:latin typeface="Avenir Book" panose="02000503020000020003" pitchFamily="2" charset="0"/>
                        </a:rPr>
                        <a:t>2027–2028</a:t>
                      </a:r>
                    </a:p>
                  </a:txBody>
                  <a:tcPr marL="68580" marR="68580" marT="34290" marB="34290" anchor="ctr"/>
                </a:tc>
                <a:tc>
                  <a:txBody>
                    <a:bodyPr/>
                    <a:lstStyle/>
                    <a:p>
                      <a:pPr algn="ctr" fontAlgn="ctr">
                        <a:buNone/>
                      </a:pPr>
                      <a:r>
                        <a:rPr lang="en-US" sz="1200" b="0" i="0" u="none" strike="noStrike" dirty="0">
                          <a:solidFill>
                            <a:srgbClr val="000000"/>
                          </a:solidFill>
                          <a:effectLst/>
                          <a:latin typeface="Avenir Book" panose="02000503020000020003" pitchFamily="2" charset="0"/>
                        </a:rPr>
                        <a:t>$56.87M</a:t>
                      </a:r>
                    </a:p>
                  </a:txBody>
                  <a:tcPr marL="9525" marR="9525" marT="9525" marB="0" anchor="ctr"/>
                </a:tc>
                <a:tc>
                  <a:txBody>
                    <a:bodyPr/>
                    <a:lstStyle/>
                    <a:p>
                      <a:pPr algn="ctr" fontAlgn="ctr">
                        <a:buNone/>
                      </a:pPr>
                      <a:r>
                        <a:rPr lang="en-US" sz="1200" b="0" i="0" u="none" strike="noStrike">
                          <a:solidFill>
                            <a:srgbClr val="000000"/>
                          </a:solidFill>
                          <a:effectLst/>
                          <a:latin typeface="Avenir Book"/>
                        </a:rPr>
                        <a:t>$362</a:t>
                      </a:r>
                    </a:p>
                  </a:txBody>
                  <a:tcPr marL="9525" marR="9525" marT="9525" marB="0" anchor="ctr"/>
                </a:tc>
                <a:tc>
                  <a:txBody>
                    <a:bodyPr/>
                    <a:lstStyle/>
                    <a:p>
                      <a:pPr algn="ctr" fontAlgn="ctr">
                        <a:buNone/>
                      </a:pPr>
                      <a:r>
                        <a:rPr lang="en-US" sz="1200" b="0" i="0" u="none" strike="noStrike" dirty="0">
                          <a:solidFill>
                            <a:srgbClr val="000000"/>
                          </a:solidFill>
                          <a:effectLst/>
                          <a:latin typeface="Avenir Book" panose="02000503020000020003" pitchFamily="2" charset="0"/>
                        </a:rPr>
                        <a:t>55%</a:t>
                      </a:r>
                    </a:p>
                  </a:txBody>
                  <a:tcPr marL="9525" marR="9525" marT="9525" marB="0" anchor="ctr"/>
                </a:tc>
                <a:tc>
                  <a:txBody>
                    <a:bodyPr/>
                    <a:lstStyle/>
                    <a:p>
                      <a:pPr algn="ctr" fontAlgn="ctr">
                        <a:buNone/>
                      </a:pPr>
                      <a:r>
                        <a:rPr lang="en-US" sz="1200" b="0" i="0" u="none" strike="noStrike">
                          <a:solidFill>
                            <a:srgbClr val="000000"/>
                          </a:solidFill>
                          <a:effectLst/>
                          <a:latin typeface="Avenir Book" panose="02000503020000020003" pitchFamily="2" charset="0"/>
                        </a:rPr>
                        <a:t>—</a:t>
                      </a:r>
                      <a:endParaRPr lang="en-US" sz="1200" b="0" i="0" u="none" strike="noStrike" dirty="0">
                        <a:solidFill>
                          <a:srgbClr val="000000"/>
                        </a:solidFill>
                        <a:effectLst/>
                        <a:latin typeface="Avenir Book" panose="02000503020000020003" pitchFamily="2" charset="0"/>
                      </a:endParaRPr>
                    </a:p>
                  </a:txBody>
                  <a:tcPr marL="9525" marR="9525" marT="9525" marB="0" anchor="ctr"/>
                </a:tc>
                <a:tc>
                  <a:txBody>
                    <a:bodyPr/>
                    <a:lstStyle/>
                    <a:p>
                      <a:pPr algn="ctr" fontAlgn="ctr">
                        <a:buNone/>
                      </a:pPr>
                      <a:r>
                        <a:rPr lang="en-US" sz="1200" b="0" i="0" u="none" strike="noStrike" dirty="0">
                          <a:solidFill>
                            <a:srgbClr val="000000"/>
                          </a:solidFill>
                          <a:effectLst/>
                          <a:latin typeface="Avenir Book" panose="02000503020000020003" pitchFamily="2" charset="0"/>
                        </a:rPr>
                        <a:t>—</a:t>
                      </a:r>
                    </a:p>
                  </a:txBody>
                  <a:tcPr marL="9525" marR="9525" marT="9525" marB="0" anchor="ctr"/>
                </a:tc>
                <a:tc>
                  <a:txBody>
                    <a:bodyPr/>
                    <a:lstStyle/>
                    <a:p>
                      <a:pPr algn="ctr" fontAlgn="ctr">
                        <a:buNone/>
                      </a:pPr>
                      <a:r>
                        <a:rPr lang="en-US" sz="1200" b="0" i="0" u="none" strike="noStrike" dirty="0">
                          <a:solidFill>
                            <a:srgbClr val="000000"/>
                          </a:solidFill>
                          <a:effectLst/>
                          <a:latin typeface="Avenir Book" panose="02000503020000020003" pitchFamily="2" charset="0"/>
                        </a:rPr>
                        <a:t>—</a:t>
                      </a:r>
                    </a:p>
                  </a:txBody>
                  <a:tcPr marL="9525" marR="9525" marT="9525" marB="0" anchor="ctr"/>
                </a:tc>
                <a:tc>
                  <a:txBody>
                    <a:bodyPr/>
                    <a:lstStyle/>
                    <a:p>
                      <a:pPr algn="ctr" fontAlgn="ctr">
                        <a:buNone/>
                      </a:pPr>
                      <a:r>
                        <a:rPr lang="en-US" sz="1200" b="0" i="0" u="none" strike="noStrike" dirty="0">
                          <a:solidFill>
                            <a:srgbClr val="000000"/>
                          </a:solidFill>
                          <a:effectLst/>
                          <a:latin typeface="Avenir Book" panose="02000503020000020003" pitchFamily="2" charset="0"/>
                        </a:rPr>
                        <a:t>—</a:t>
                      </a:r>
                    </a:p>
                  </a:txBody>
                  <a:tcPr marL="9525" marR="9525" marT="9525" marB="0" anchor="ctr"/>
                </a:tc>
                <a:extLst>
                  <a:ext uri="{0D108BD9-81ED-4DB2-BD59-A6C34878D82A}">
                    <a16:rowId xmlns:a16="http://schemas.microsoft.com/office/drawing/2014/main" val="4058527576"/>
                  </a:ext>
                </a:extLst>
              </a:tr>
              <a:tr h="550497">
                <a:tc>
                  <a:txBody>
                    <a:bodyPr/>
                    <a:lstStyle/>
                    <a:p>
                      <a:pPr algn="ctr"/>
                      <a:r>
                        <a:rPr lang="en-US" sz="1050" b="0" i="0" dirty="0">
                          <a:latin typeface="Avenir Book" panose="02000503020000020003" pitchFamily="2" charset="0"/>
                        </a:rPr>
                        <a:t>Soft + Contingency</a:t>
                      </a:r>
                    </a:p>
                    <a:p>
                      <a:pPr algn="ctr"/>
                      <a:r>
                        <a:rPr lang="en-US" sz="800" b="0" i="0" dirty="0">
                          <a:latin typeface="Avenir Book" panose="02000503020000020003" pitchFamily="2" charset="0"/>
                        </a:rPr>
                        <a:t>Arch / Eng / Permits</a:t>
                      </a:r>
                      <a:endParaRPr lang="en-US" sz="1050" b="0" i="0" dirty="0">
                        <a:latin typeface="Avenir Book" panose="02000503020000020003" pitchFamily="2" charset="0"/>
                      </a:endParaRPr>
                    </a:p>
                  </a:txBody>
                  <a:tcPr marL="68580" marR="68580" marT="34290" marB="34290" anchor="ctr"/>
                </a:tc>
                <a:tc>
                  <a:txBody>
                    <a:bodyPr/>
                    <a:lstStyle/>
                    <a:p>
                      <a:pPr algn="ctr"/>
                      <a:r>
                        <a:rPr lang="en-US" sz="1050" b="0" i="0" dirty="0">
                          <a:latin typeface="Avenir Book" panose="02000503020000020003" pitchFamily="2" charset="0"/>
                        </a:rPr>
                        <a:t>2027–2028</a:t>
                      </a:r>
                    </a:p>
                  </a:txBody>
                  <a:tcPr marL="68580" marR="68580" marT="34290" marB="34290" anchor="ctr"/>
                </a:tc>
                <a:tc>
                  <a:txBody>
                    <a:bodyPr/>
                    <a:lstStyle/>
                    <a:p>
                      <a:pPr algn="ctr" fontAlgn="ctr">
                        <a:buNone/>
                      </a:pPr>
                      <a:r>
                        <a:rPr lang="en-US" sz="1200" b="0" i="0" u="none" strike="noStrike" dirty="0">
                          <a:solidFill>
                            <a:srgbClr val="000000"/>
                          </a:solidFill>
                          <a:effectLst/>
                          <a:latin typeface="Avenir Book" panose="02000503020000020003" pitchFamily="2" charset="0"/>
                        </a:rPr>
                        <a:t>$10.88M</a:t>
                      </a:r>
                    </a:p>
                  </a:txBody>
                  <a:tcPr marL="9525" marR="9525" marT="9525" marB="0" anchor="ctr"/>
                </a:tc>
                <a:tc>
                  <a:txBody>
                    <a:bodyPr/>
                    <a:lstStyle/>
                    <a:p>
                      <a:pPr algn="ctr" fontAlgn="ctr">
                        <a:buNone/>
                      </a:pPr>
                      <a:r>
                        <a:rPr lang="en-US" sz="1200" b="0" i="0" u="none" strike="noStrike">
                          <a:solidFill>
                            <a:srgbClr val="000000"/>
                          </a:solidFill>
                          <a:effectLst/>
                          <a:latin typeface="Avenir Book"/>
                        </a:rPr>
                        <a:t>$69</a:t>
                      </a:r>
                    </a:p>
                  </a:txBody>
                  <a:tcPr marL="9525" marR="9525" marT="9525" marB="0" anchor="ctr"/>
                </a:tc>
                <a:tc>
                  <a:txBody>
                    <a:bodyPr/>
                    <a:lstStyle/>
                    <a:p>
                      <a:pPr algn="ctr" fontAlgn="ctr">
                        <a:buNone/>
                      </a:pPr>
                      <a:r>
                        <a:rPr lang="en-US" sz="1200" b="0" i="0" u="none" strike="noStrike" dirty="0">
                          <a:solidFill>
                            <a:srgbClr val="000000"/>
                          </a:solidFill>
                          <a:effectLst/>
                          <a:latin typeface="Avenir Book" panose="02000503020000020003" pitchFamily="2" charset="0"/>
                        </a:rPr>
                        <a:t>10%</a:t>
                      </a:r>
                    </a:p>
                  </a:txBody>
                  <a:tcPr marL="9525" marR="9525" marT="9525" marB="0" anchor="ctr"/>
                </a:tc>
                <a:tc>
                  <a:txBody>
                    <a:bodyPr/>
                    <a:lstStyle/>
                    <a:p>
                      <a:pPr algn="ctr" fontAlgn="ctr">
                        <a:buNone/>
                      </a:pPr>
                      <a:r>
                        <a:rPr lang="en-US" sz="1200" b="0" i="0" u="none" strike="noStrike" dirty="0">
                          <a:solidFill>
                            <a:srgbClr val="000000"/>
                          </a:solidFill>
                          <a:effectLst/>
                          <a:latin typeface="Avenir Book" panose="02000503020000020003" pitchFamily="2" charset="0"/>
                        </a:rPr>
                        <a:t>—</a:t>
                      </a:r>
                    </a:p>
                  </a:txBody>
                  <a:tcPr marL="9525" marR="9525" marT="9525" marB="0" anchor="ctr"/>
                </a:tc>
                <a:tc>
                  <a:txBody>
                    <a:bodyPr/>
                    <a:lstStyle/>
                    <a:p>
                      <a:pPr algn="ctr" fontAlgn="ctr">
                        <a:buNone/>
                      </a:pPr>
                      <a:r>
                        <a:rPr lang="en-US" sz="1200" b="0" i="0" u="none" strike="noStrike">
                          <a:solidFill>
                            <a:srgbClr val="000000"/>
                          </a:solidFill>
                          <a:effectLst/>
                          <a:latin typeface="Avenir Book" panose="02000503020000020003" pitchFamily="2" charset="0"/>
                        </a:rPr>
                        <a:t>—</a:t>
                      </a:r>
                    </a:p>
                  </a:txBody>
                  <a:tcPr marL="9525" marR="9525" marT="9525" marB="0" anchor="ctr"/>
                </a:tc>
                <a:tc>
                  <a:txBody>
                    <a:bodyPr/>
                    <a:lstStyle/>
                    <a:p>
                      <a:pPr algn="ctr" fontAlgn="ctr">
                        <a:buNone/>
                      </a:pPr>
                      <a:r>
                        <a:rPr lang="en-US" sz="1200" b="0" i="0" u="none" strike="noStrike" dirty="0">
                          <a:solidFill>
                            <a:srgbClr val="000000"/>
                          </a:solidFill>
                          <a:effectLst/>
                          <a:latin typeface="Avenir Book" panose="02000503020000020003" pitchFamily="2" charset="0"/>
                        </a:rPr>
                        <a:t>—</a:t>
                      </a:r>
                    </a:p>
                  </a:txBody>
                  <a:tcPr marL="9525" marR="9525" marT="9525" marB="0" anchor="ctr"/>
                </a:tc>
                <a:tc>
                  <a:txBody>
                    <a:bodyPr/>
                    <a:lstStyle/>
                    <a:p>
                      <a:pPr algn="ctr" fontAlgn="ctr">
                        <a:buNone/>
                      </a:pPr>
                      <a:r>
                        <a:rPr lang="en-US" sz="1200" b="0" i="0" u="none" strike="noStrike" dirty="0">
                          <a:solidFill>
                            <a:srgbClr val="000000"/>
                          </a:solidFill>
                          <a:effectLst/>
                          <a:latin typeface="Avenir Book" panose="02000503020000020003" pitchFamily="2" charset="0"/>
                        </a:rPr>
                        <a:t>—</a:t>
                      </a:r>
                    </a:p>
                  </a:txBody>
                  <a:tcPr marL="9525" marR="9525" marT="9525" marB="0" anchor="ctr"/>
                </a:tc>
                <a:extLst>
                  <a:ext uri="{0D108BD9-81ED-4DB2-BD59-A6C34878D82A}">
                    <a16:rowId xmlns:a16="http://schemas.microsoft.com/office/drawing/2014/main" val="3069544482"/>
                  </a:ext>
                </a:extLst>
              </a:tr>
              <a:tr h="550497">
                <a:tc>
                  <a:txBody>
                    <a:bodyPr/>
                    <a:lstStyle/>
                    <a:p>
                      <a:pPr algn="ctr"/>
                      <a:r>
                        <a:rPr lang="en-US" sz="1050" b="0" i="0" dirty="0">
                          <a:latin typeface="Avenir Book" panose="02000503020000020003" pitchFamily="2" charset="0"/>
                        </a:rPr>
                        <a:t>TI / LC / Dev Fee</a:t>
                      </a:r>
                      <a:r>
                        <a:rPr lang="en-US" sz="800" b="0" i="0" dirty="0">
                          <a:latin typeface="Avenir Book" panose="02000503020000020003" pitchFamily="2" charset="0"/>
                        </a:rPr>
                        <a:t>Lease econ + 4% dev fee</a:t>
                      </a:r>
                      <a:endParaRPr lang="en-US" sz="1050" b="0" i="0" dirty="0">
                        <a:latin typeface="Avenir Book" panose="02000503020000020003" pitchFamily="2" charset="0"/>
                      </a:endParaRPr>
                    </a:p>
                  </a:txBody>
                  <a:tcPr marL="68580" marR="68580" marT="34290" marB="34290" anchor="ctr"/>
                </a:tc>
                <a:tc>
                  <a:txBody>
                    <a:bodyPr/>
                    <a:lstStyle/>
                    <a:p>
                      <a:pPr algn="ctr"/>
                      <a:r>
                        <a:rPr lang="en-US" sz="1050" b="0" i="0" dirty="0">
                          <a:latin typeface="Avenir Book" panose="02000503020000020003" pitchFamily="2" charset="0"/>
                        </a:rPr>
                        <a:t>2028–2029</a:t>
                      </a:r>
                    </a:p>
                  </a:txBody>
                  <a:tcPr marL="68580" marR="68580" marT="34290" marB="34290" anchor="ctr"/>
                </a:tc>
                <a:tc>
                  <a:txBody>
                    <a:bodyPr/>
                    <a:lstStyle/>
                    <a:p>
                      <a:pPr algn="ctr" fontAlgn="ctr">
                        <a:buNone/>
                      </a:pPr>
                      <a:r>
                        <a:rPr lang="en-US" sz="1200" b="0" i="0" u="none" strike="noStrike" dirty="0">
                          <a:solidFill>
                            <a:srgbClr val="000000"/>
                          </a:solidFill>
                          <a:effectLst/>
                          <a:latin typeface="Avenir Book" panose="02000503020000020003" pitchFamily="2" charset="0"/>
                        </a:rPr>
                        <a:t>$9.21M</a:t>
                      </a:r>
                    </a:p>
                  </a:txBody>
                  <a:tcPr marL="9525" marR="9525" marT="9525" marB="0" anchor="ctr"/>
                </a:tc>
                <a:tc>
                  <a:txBody>
                    <a:bodyPr/>
                    <a:lstStyle/>
                    <a:p>
                      <a:pPr algn="ctr" fontAlgn="ctr">
                        <a:buNone/>
                      </a:pPr>
                      <a:r>
                        <a:rPr lang="en-US" sz="1200" b="0" i="0" u="none" strike="noStrike" dirty="0">
                          <a:solidFill>
                            <a:srgbClr val="000000"/>
                          </a:solidFill>
                          <a:effectLst/>
                          <a:latin typeface="Avenir Book" panose="02000503020000020003" pitchFamily="2" charset="0"/>
                        </a:rPr>
                        <a:t>$59</a:t>
                      </a:r>
                    </a:p>
                  </a:txBody>
                  <a:tcPr marL="9525" marR="9525" marT="9525" marB="0" anchor="ctr"/>
                </a:tc>
                <a:tc>
                  <a:txBody>
                    <a:bodyPr/>
                    <a:lstStyle/>
                    <a:p>
                      <a:pPr algn="ctr" fontAlgn="ctr">
                        <a:buNone/>
                      </a:pPr>
                      <a:r>
                        <a:rPr lang="en-US" sz="1200" b="0" i="0" u="none" strike="noStrike" dirty="0">
                          <a:solidFill>
                            <a:srgbClr val="000000"/>
                          </a:solidFill>
                          <a:effectLst/>
                          <a:latin typeface="Avenir Book" panose="02000503020000020003" pitchFamily="2" charset="0"/>
                        </a:rPr>
                        <a:t>9%</a:t>
                      </a:r>
                    </a:p>
                  </a:txBody>
                  <a:tcPr marL="9525" marR="9525" marT="9525" marB="0" anchor="ctr"/>
                </a:tc>
                <a:tc>
                  <a:txBody>
                    <a:bodyPr/>
                    <a:lstStyle/>
                    <a:p>
                      <a:pPr algn="ctr" fontAlgn="ctr">
                        <a:buNone/>
                      </a:pPr>
                      <a:r>
                        <a:rPr lang="en-US" sz="1200" b="0" i="0" u="none" strike="noStrike" dirty="0">
                          <a:solidFill>
                            <a:srgbClr val="000000"/>
                          </a:solidFill>
                          <a:effectLst/>
                          <a:latin typeface="Avenir Book" panose="02000503020000020003" pitchFamily="2" charset="0"/>
                        </a:rPr>
                        <a:t>—</a:t>
                      </a:r>
                    </a:p>
                  </a:txBody>
                  <a:tcPr marL="9525" marR="9525" marT="9525" marB="0" anchor="ctr"/>
                </a:tc>
                <a:tc>
                  <a:txBody>
                    <a:bodyPr/>
                    <a:lstStyle/>
                    <a:p>
                      <a:pPr algn="ctr" fontAlgn="ctr">
                        <a:buNone/>
                      </a:pPr>
                      <a:r>
                        <a:rPr lang="en-US" sz="1200" b="0" i="0" u="none" strike="noStrike">
                          <a:solidFill>
                            <a:srgbClr val="000000"/>
                          </a:solidFill>
                          <a:effectLst/>
                          <a:latin typeface="Avenir Book" panose="02000503020000020003" pitchFamily="2" charset="0"/>
                        </a:rPr>
                        <a:t>—</a:t>
                      </a:r>
                    </a:p>
                  </a:txBody>
                  <a:tcPr marL="9525" marR="9525" marT="9525" marB="0" anchor="ctr"/>
                </a:tc>
                <a:tc>
                  <a:txBody>
                    <a:bodyPr/>
                    <a:lstStyle/>
                    <a:p>
                      <a:pPr algn="ctr" fontAlgn="ctr">
                        <a:buNone/>
                      </a:pPr>
                      <a:r>
                        <a:rPr lang="en-US" sz="1200" b="0" i="0" u="none" strike="noStrike" dirty="0">
                          <a:solidFill>
                            <a:srgbClr val="000000"/>
                          </a:solidFill>
                          <a:effectLst/>
                          <a:latin typeface="Avenir Book" panose="02000503020000020003" pitchFamily="2" charset="0"/>
                        </a:rPr>
                        <a:t>—</a:t>
                      </a:r>
                    </a:p>
                  </a:txBody>
                  <a:tcPr marL="9525" marR="9525" marT="9525" marB="0" anchor="ctr"/>
                </a:tc>
                <a:tc>
                  <a:txBody>
                    <a:bodyPr/>
                    <a:lstStyle/>
                    <a:p>
                      <a:pPr algn="ctr" fontAlgn="ctr">
                        <a:buNone/>
                      </a:pPr>
                      <a:r>
                        <a:rPr lang="en-US" sz="1200" b="0" i="0" u="none" strike="noStrike" dirty="0">
                          <a:solidFill>
                            <a:srgbClr val="000000"/>
                          </a:solidFill>
                          <a:effectLst/>
                          <a:latin typeface="Avenir Book" panose="02000503020000020003" pitchFamily="2" charset="0"/>
                        </a:rPr>
                        <a:t>—</a:t>
                      </a:r>
                    </a:p>
                  </a:txBody>
                  <a:tcPr marL="9525" marR="9525" marT="9525" marB="0" anchor="ctr"/>
                </a:tc>
                <a:extLst>
                  <a:ext uri="{0D108BD9-81ED-4DB2-BD59-A6C34878D82A}">
                    <a16:rowId xmlns:a16="http://schemas.microsoft.com/office/drawing/2014/main" val="1914601868"/>
                  </a:ext>
                </a:extLst>
              </a:tr>
              <a:tr h="550497">
                <a:tc>
                  <a:txBody>
                    <a:bodyPr/>
                    <a:lstStyle/>
                    <a:p>
                      <a:pPr algn="ctr"/>
                      <a:r>
                        <a:rPr lang="en-US" sz="1050" b="0" i="0" dirty="0">
                          <a:latin typeface="Avenir Book" panose="02000503020000020003" pitchFamily="2" charset="0"/>
                        </a:rPr>
                        <a:t>Cap Int + Loan Fees</a:t>
                      </a:r>
                    </a:p>
                    <a:p>
                      <a:pPr algn="ctr"/>
                      <a:r>
                        <a:rPr lang="en-US" sz="800" b="0" i="0" dirty="0">
                          <a:latin typeface="Avenir Book" panose="02000503020000020003" pitchFamily="2" charset="0"/>
                        </a:rPr>
                        <a:t>Construction loan</a:t>
                      </a:r>
                    </a:p>
                  </a:txBody>
                  <a:tcPr marL="68580" marR="68580" marT="34290" marB="34290" anchor="ctr"/>
                </a:tc>
                <a:tc>
                  <a:txBody>
                    <a:bodyPr/>
                    <a:lstStyle/>
                    <a:p>
                      <a:pPr algn="ctr"/>
                      <a:r>
                        <a:rPr lang="en-US" sz="1050" b="0" i="0" dirty="0">
                          <a:latin typeface="Avenir Book" panose="02000503020000020003" pitchFamily="2" charset="0"/>
                        </a:rPr>
                        <a:t>2027–2029</a:t>
                      </a:r>
                    </a:p>
                  </a:txBody>
                  <a:tcPr marL="68580" marR="68580" marT="34290" marB="34290" anchor="ctr"/>
                </a:tc>
                <a:tc>
                  <a:txBody>
                    <a:bodyPr/>
                    <a:lstStyle/>
                    <a:p>
                      <a:pPr algn="ctr" fontAlgn="ctr">
                        <a:buNone/>
                      </a:pPr>
                      <a:r>
                        <a:rPr lang="en-US" sz="1200" b="0" i="0" u="none" strike="noStrike" dirty="0">
                          <a:solidFill>
                            <a:srgbClr val="000000"/>
                          </a:solidFill>
                          <a:effectLst/>
                          <a:latin typeface="Avenir Book" panose="02000503020000020003" pitchFamily="2" charset="0"/>
                        </a:rPr>
                        <a:t>$7.92M</a:t>
                      </a:r>
                    </a:p>
                  </a:txBody>
                  <a:tcPr marL="9525" marR="9525" marT="9525" marB="0" anchor="ctr"/>
                </a:tc>
                <a:tc>
                  <a:txBody>
                    <a:bodyPr/>
                    <a:lstStyle/>
                    <a:p>
                      <a:pPr algn="ctr" fontAlgn="ctr">
                        <a:buNone/>
                      </a:pPr>
                      <a:r>
                        <a:rPr lang="en-US" sz="1200" b="0" i="0" u="none" strike="noStrike">
                          <a:solidFill>
                            <a:srgbClr val="000000"/>
                          </a:solidFill>
                          <a:effectLst/>
                          <a:latin typeface="Avenir Book" panose="02000503020000020003" pitchFamily="2" charset="0"/>
                        </a:rPr>
                        <a:t>$50</a:t>
                      </a:r>
                    </a:p>
                  </a:txBody>
                  <a:tcPr marL="9525" marR="9525" marT="9525" marB="0" anchor="ctr"/>
                </a:tc>
                <a:tc>
                  <a:txBody>
                    <a:bodyPr/>
                    <a:lstStyle/>
                    <a:p>
                      <a:pPr algn="ctr" fontAlgn="ctr">
                        <a:buNone/>
                      </a:pPr>
                      <a:r>
                        <a:rPr lang="en-US" sz="1200" b="0" i="0" u="none" strike="noStrike" dirty="0">
                          <a:solidFill>
                            <a:srgbClr val="000000"/>
                          </a:solidFill>
                          <a:effectLst/>
                          <a:latin typeface="Avenir Book" panose="02000503020000020003" pitchFamily="2" charset="0"/>
                        </a:rPr>
                        <a:t>8%</a:t>
                      </a:r>
                    </a:p>
                  </a:txBody>
                  <a:tcPr marL="9525" marR="9525" marT="9525" marB="0" anchor="ctr"/>
                </a:tc>
                <a:tc>
                  <a:txBody>
                    <a:bodyPr/>
                    <a:lstStyle/>
                    <a:p>
                      <a:pPr algn="ctr" fontAlgn="ctr">
                        <a:buNone/>
                      </a:pPr>
                      <a:r>
                        <a:rPr lang="en-US" sz="1200" b="0" i="0" u="none" strike="noStrike" dirty="0">
                          <a:solidFill>
                            <a:srgbClr val="000000"/>
                          </a:solidFill>
                          <a:effectLst/>
                          <a:latin typeface="Avenir Book" panose="02000503020000020003" pitchFamily="2" charset="0"/>
                        </a:rPr>
                        <a:t>—</a:t>
                      </a:r>
                    </a:p>
                  </a:txBody>
                  <a:tcPr marL="9525" marR="9525" marT="9525" marB="0" anchor="ctr"/>
                </a:tc>
                <a:tc>
                  <a:txBody>
                    <a:bodyPr/>
                    <a:lstStyle/>
                    <a:p>
                      <a:pPr algn="ctr" fontAlgn="ctr">
                        <a:buNone/>
                      </a:pPr>
                      <a:r>
                        <a:rPr lang="en-US" sz="1200" b="0" i="0" u="none" strike="noStrike">
                          <a:solidFill>
                            <a:srgbClr val="000000"/>
                          </a:solidFill>
                          <a:effectLst/>
                          <a:latin typeface="Avenir Book" panose="02000503020000020003" pitchFamily="2" charset="0"/>
                        </a:rPr>
                        <a:t>—</a:t>
                      </a:r>
                    </a:p>
                  </a:txBody>
                  <a:tcPr marL="9525" marR="9525" marT="9525" marB="0" anchor="ctr"/>
                </a:tc>
                <a:tc>
                  <a:txBody>
                    <a:bodyPr/>
                    <a:lstStyle/>
                    <a:p>
                      <a:pPr algn="ctr" fontAlgn="ctr">
                        <a:buNone/>
                      </a:pPr>
                      <a:r>
                        <a:rPr lang="en-US" sz="1200" b="0" i="0" u="none" strike="noStrike" dirty="0">
                          <a:solidFill>
                            <a:srgbClr val="000000"/>
                          </a:solidFill>
                          <a:effectLst/>
                          <a:latin typeface="Avenir Book" panose="02000503020000020003" pitchFamily="2" charset="0"/>
                        </a:rPr>
                        <a:t>—</a:t>
                      </a:r>
                    </a:p>
                  </a:txBody>
                  <a:tcPr marL="9525" marR="9525" marT="9525" marB="0" anchor="ctr"/>
                </a:tc>
                <a:tc>
                  <a:txBody>
                    <a:bodyPr/>
                    <a:lstStyle/>
                    <a:p>
                      <a:pPr algn="ctr" fontAlgn="ctr">
                        <a:buNone/>
                      </a:pPr>
                      <a:r>
                        <a:rPr lang="en-US" sz="1200" b="0" i="0" u="none" strike="noStrike">
                          <a:solidFill>
                            <a:srgbClr val="000000"/>
                          </a:solidFill>
                          <a:effectLst/>
                          <a:latin typeface="Avenir Book" panose="02000503020000020003" pitchFamily="2" charset="0"/>
                        </a:rPr>
                        <a:t>—</a:t>
                      </a:r>
                      <a:endParaRPr lang="en-US" sz="1200" b="0" i="0" u="none" strike="noStrike" dirty="0">
                        <a:solidFill>
                          <a:srgbClr val="000000"/>
                        </a:solidFill>
                        <a:effectLst/>
                        <a:latin typeface="Avenir Book" panose="02000503020000020003" pitchFamily="2" charset="0"/>
                      </a:endParaRPr>
                    </a:p>
                  </a:txBody>
                  <a:tcPr marL="9525" marR="9525" marT="9525" marB="0" anchor="ctr"/>
                </a:tc>
                <a:extLst>
                  <a:ext uri="{0D108BD9-81ED-4DB2-BD59-A6C34878D82A}">
                    <a16:rowId xmlns:a16="http://schemas.microsoft.com/office/drawing/2014/main" val="1970719659"/>
                  </a:ext>
                </a:extLst>
              </a:tr>
              <a:tr h="550497">
                <a:tc>
                  <a:txBody>
                    <a:bodyPr/>
                    <a:lstStyle/>
                    <a:p>
                      <a:pPr algn="ctr"/>
                      <a:r>
                        <a:rPr lang="en-US" sz="1050" b="0" i="0" dirty="0">
                          <a:latin typeface="Avenir Book" panose="02000503020000020003" pitchFamily="2" charset="0"/>
                        </a:rPr>
                        <a:t>Total Project Cost</a:t>
                      </a:r>
                    </a:p>
                    <a:p>
                      <a:pPr algn="ctr"/>
                      <a:r>
                        <a:rPr lang="en-US" sz="800" b="0" i="0" dirty="0">
                          <a:latin typeface="Avenir Book" panose="02000503020000020003" pitchFamily="2" charset="0"/>
                        </a:rPr>
                        <a:t>All-In Basis</a:t>
                      </a:r>
                    </a:p>
                  </a:txBody>
                  <a:tcPr marL="68580" marR="68580" marT="34290" marB="34290" anchor="ctr"/>
                </a:tc>
                <a:tc>
                  <a:txBody>
                    <a:bodyPr/>
                    <a:lstStyle/>
                    <a:p>
                      <a:pPr algn="ctr"/>
                      <a:r>
                        <a:rPr lang="en-US" sz="1050" b="0" i="0" dirty="0">
                          <a:latin typeface="Avenir Book" panose="02000503020000020003" pitchFamily="2" charset="0"/>
                        </a:rPr>
                        <a:t>Dec 2026 – Q1 2029</a:t>
                      </a:r>
                    </a:p>
                  </a:txBody>
                  <a:tcPr marL="68580" marR="68580" marT="34290" marB="34290" anchor="ctr"/>
                </a:tc>
                <a:tc>
                  <a:txBody>
                    <a:bodyPr/>
                    <a:lstStyle/>
                    <a:p>
                      <a:pPr algn="ctr" fontAlgn="ctr">
                        <a:buNone/>
                      </a:pPr>
                      <a:r>
                        <a:rPr lang="en-US" sz="1200" b="0" i="0" u="none" strike="noStrike" dirty="0">
                          <a:solidFill>
                            <a:srgbClr val="000000"/>
                          </a:solidFill>
                          <a:effectLst/>
                          <a:latin typeface="Avenir Book" panose="02000503020000020003" pitchFamily="2" charset="0"/>
                        </a:rPr>
                        <a:t>$104.0M</a:t>
                      </a:r>
                    </a:p>
                  </a:txBody>
                  <a:tcPr marL="9525" marR="9525" marT="9525" marB="0" anchor="ctr"/>
                </a:tc>
                <a:tc>
                  <a:txBody>
                    <a:bodyPr/>
                    <a:lstStyle/>
                    <a:p>
                      <a:pPr algn="ctr" fontAlgn="ctr">
                        <a:buNone/>
                      </a:pPr>
                      <a:r>
                        <a:rPr lang="en-US" sz="1200" b="0" i="0" u="none" strike="noStrike" dirty="0">
                          <a:solidFill>
                            <a:srgbClr val="000000"/>
                          </a:solidFill>
                          <a:effectLst/>
                          <a:latin typeface="Avenir Book" panose="02000503020000020003" pitchFamily="2" charset="0"/>
                        </a:rPr>
                        <a:t>$663</a:t>
                      </a:r>
                    </a:p>
                  </a:txBody>
                  <a:tcPr marL="9525" marR="9525" marT="9525" marB="0" anchor="ctr"/>
                </a:tc>
                <a:tc>
                  <a:txBody>
                    <a:bodyPr/>
                    <a:lstStyle/>
                    <a:p>
                      <a:pPr algn="ctr" fontAlgn="ctr">
                        <a:buNone/>
                      </a:pPr>
                      <a:r>
                        <a:rPr lang="en-US" sz="1200" b="0" i="0" u="none" strike="noStrike" dirty="0">
                          <a:solidFill>
                            <a:srgbClr val="000000"/>
                          </a:solidFill>
                          <a:effectLst/>
                          <a:latin typeface="Avenir Book" panose="02000503020000020003" pitchFamily="2" charset="0"/>
                        </a:rPr>
                        <a:t>100%</a:t>
                      </a:r>
                    </a:p>
                  </a:txBody>
                  <a:tcPr marL="9525" marR="9525" marT="9525" marB="0" anchor="ctr"/>
                </a:tc>
                <a:tc>
                  <a:txBody>
                    <a:bodyPr/>
                    <a:lstStyle/>
                    <a:p>
                      <a:pPr algn="ctr" fontAlgn="ctr">
                        <a:buNone/>
                      </a:pPr>
                      <a:r>
                        <a:rPr lang="en-US" sz="1200" b="0" i="0" u="none" strike="noStrike" dirty="0">
                          <a:solidFill>
                            <a:srgbClr val="000000"/>
                          </a:solidFill>
                          <a:effectLst/>
                          <a:latin typeface="Avenir Book" panose="02000503020000020003" pitchFamily="2" charset="0"/>
                        </a:rPr>
                        <a:t>$8.55M</a:t>
                      </a:r>
                    </a:p>
                  </a:txBody>
                  <a:tcPr marL="9525" marR="9525" marT="9525" marB="0" anchor="ctr"/>
                </a:tc>
                <a:tc>
                  <a:txBody>
                    <a:bodyPr/>
                    <a:lstStyle/>
                    <a:p>
                      <a:pPr algn="ctr" fontAlgn="ctr">
                        <a:buNone/>
                      </a:pPr>
                      <a:r>
                        <a:rPr lang="en-US" sz="1200" b="0" i="0" u="none" strike="noStrike" dirty="0">
                          <a:solidFill>
                            <a:srgbClr val="000000"/>
                          </a:solidFill>
                          <a:effectLst/>
                          <a:latin typeface="Avenir Book" panose="02000503020000020003" pitchFamily="2" charset="0"/>
                        </a:rPr>
                        <a:t>8.24% YoC</a:t>
                      </a:r>
                    </a:p>
                  </a:txBody>
                  <a:tcPr marL="9525" marR="9525" marT="9525" marB="0" anchor="ctr"/>
                </a:tc>
                <a:tc>
                  <a:txBody>
                    <a:bodyPr/>
                    <a:lstStyle/>
                    <a:p>
                      <a:pPr algn="ctr" fontAlgn="ctr">
                        <a:buNone/>
                      </a:pPr>
                      <a:r>
                        <a:rPr lang="en-US" sz="1200" b="0" i="0" u="none" strike="noStrike" dirty="0">
                          <a:solidFill>
                            <a:srgbClr val="000000"/>
                          </a:solidFill>
                          <a:effectLst/>
                          <a:latin typeface="Avenir Book" panose="02000503020000020003" pitchFamily="2" charset="0"/>
                        </a:rPr>
                        <a:t>—</a:t>
                      </a:r>
                    </a:p>
                  </a:txBody>
                  <a:tcPr marL="9525" marR="9525" marT="9525" marB="0" anchor="ctr"/>
                </a:tc>
                <a:tc>
                  <a:txBody>
                    <a:bodyPr/>
                    <a:lstStyle/>
                    <a:p>
                      <a:pPr algn="ctr" fontAlgn="ctr">
                        <a:buNone/>
                      </a:pPr>
                      <a:r>
                        <a:rPr lang="en-US" sz="1200" b="0" i="0" u="none" strike="noStrike" dirty="0">
                          <a:solidFill>
                            <a:srgbClr val="000000"/>
                          </a:solidFill>
                          <a:effectLst/>
                          <a:latin typeface="Avenir Book" panose="02000503020000020003" pitchFamily="2" charset="0"/>
                        </a:rPr>
                        <a:t>—</a:t>
                      </a:r>
                    </a:p>
                  </a:txBody>
                  <a:tcPr marL="9525" marR="9525" marT="9525" marB="0" anchor="ctr"/>
                </a:tc>
                <a:extLst>
                  <a:ext uri="{0D108BD9-81ED-4DB2-BD59-A6C34878D82A}">
                    <a16:rowId xmlns:a16="http://schemas.microsoft.com/office/drawing/2014/main" val="478480583"/>
                  </a:ext>
                </a:extLst>
              </a:tr>
              <a:tr h="611223">
                <a:tc>
                  <a:txBody>
                    <a:bodyPr/>
                    <a:lstStyle/>
                    <a:p>
                      <a:pPr algn="ctr"/>
                      <a:r>
                        <a:rPr lang="en-US" sz="1050" b="0" i="0" dirty="0">
                          <a:latin typeface="Avenir Book" panose="02000503020000020003" pitchFamily="2" charset="0"/>
                        </a:rPr>
                        <a:t>Exit @ 5.50% Cap</a:t>
                      </a:r>
                    </a:p>
                    <a:p>
                      <a:pPr algn="ctr"/>
                      <a:r>
                        <a:rPr lang="en-US" sz="800" b="0" i="0" dirty="0">
                          <a:latin typeface="Avenir Book" panose="02000503020000020003" pitchFamily="2" charset="0"/>
                        </a:rPr>
                        <a:t>72-mo hold (Sale Dec 2032)</a:t>
                      </a:r>
                    </a:p>
                  </a:txBody>
                  <a:tcPr marL="68580" marR="68580" marT="34290" marB="34290" anchor="ctr"/>
                </a:tc>
                <a:tc>
                  <a:txBody>
                    <a:bodyPr/>
                    <a:lstStyle/>
                    <a:p>
                      <a:pPr algn="ctr"/>
                      <a:r>
                        <a:rPr lang="en-US" sz="1050" b="0" i="0" dirty="0">
                          <a:latin typeface="Avenir Book" panose="02000503020000020003" pitchFamily="2" charset="0"/>
                        </a:rPr>
                        <a:t>Dec 2032</a:t>
                      </a:r>
                    </a:p>
                  </a:txBody>
                  <a:tcPr marL="68580" marR="68580" marT="34290" marB="34290" anchor="ctr"/>
                </a:tc>
                <a:tc>
                  <a:txBody>
                    <a:bodyPr/>
                    <a:lstStyle/>
                    <a:p>
                      <a:pPr algn="ctr" fontAlgn="ctr">
                        <a:buNone/>
                      </a:pPr>
                      <a:r>
                        <a:rPr lang="en-US" sz="1200" b="0" i="0" u="none" strike="noStrike" dirty="0">
                          <a:solidFill>
                            <a:srgbClr val="000000"/>
                          </a:solidFill>
                          <a:effectLst/>
                          <a:latin typeface="Avenir Book" panose="02000503020000020003" pitchFamily="2" charset="0"/>
                        </a:rPr>
                        <a:t>$155.4M</a:t>
                      </a:r>
                    </a:p>
                  </a:txBody>
                  <a:tcPr marL="9525" marR="9525" marT="9525" marB="0" anchor="ctr"/>
                </a:tc>
                <a:tc>
                  <a:txBody>
                    <a:bodyPr/>
                    <a:lstStyle/>
                    <a:p>
                      <a:pPr algn="ctr" fontAlgn="ctr">
                        <a:buNone/>
                      </a:pPr>
                      <a:endParaRPr lang="en-US" sz="1200" b="0" i="0" u="none" strike="noStrike" dirty="0">
                        <a:solidFill>
                          <a:srgbClr val="000000"/>
                        </a:solidFill>
                        <a:effectLst/>
                        <a:latin typeface="Avenir Book" panose="02000503020000020003" pitchFamily="2" charset="0"/>
                      </a:endParaRPr>
                    </a:p>
                  </a:txBody>
                  <a:tcPr marL="9525" marR="9525" marT="9525" marB="0" anchor="ctr"/>
                </a:tc>
                <a:tc>
                  <a:txBody>
                    <a:bodyPr/>
                    <a:lstStyle/>
                    <a:p>
                      <a:pPr algn="ctr" fontAlgn="ctr">
                        <a:buNone/>
                      </a:pPr>
                      <a:r>
                        <a:rPr lang="en-US" sz="1200" b="0" i="0" u="none" strike="noStrike" dirty="0">
                          <a:solidFill>
                            <a:srgbClr val="000000"/>
                          </a:solidFill>
                          <a:effectLst/>
                          <a:latin typeface="Avenir Book" panose="02000503020000020003" pitchFamily="2" charset="0"/>
                        </a:rPr>
                        <a:t>$990 / SF</a:t>
                      </a:r>
                    </a:p>
                  </a:txBody>
                  <a:tcPr marL="9525" marR="9525" marT="9525" marB="0" anchor="ctr"/>
                </a:tc>
                <a:tc>
                  <a:txBody>
                    <a:bodyPr/>
                    <a:lstStyle/>
                    <a:p>
                      <a:pPr algn="ctr" fontAlgn="ctr">
                        <a:buNone/>
                      </a:pPr>
                      <a:r>
                        <a:rPr lang="en-US" sz="1200" b="0" i="0" u="none" strike="noStrike" dirty="0">
                          <a:solidFill>
                            <a:srgbClr val="000000"/>
                          </a:solidFill>
                          <a:effectLst/>
                          <a:latin typeface="Avenir Book" panose="02000503020000020003" pitchFamily="2" charset="0"/>
                        </a:rPr>
                        <a:t>$41.7M profit</a:t>
                      </a:r>
                    </a:p>
                  </a:txBody>
                  <a:tcPr marL="9525" marR="9525" marT="9525" marB="0" anchor="ctr"/>
                </a:tc>
                <a:tc>
                  <a:txBody>
                    <a:bodyPr/>
                    <a:lstStyle/>
                    <a:p>
                      <a:pPr algn="ctr" fontAlgn="ctr">
                        <a:buNone/>
                      </a:pPr>
                      <a:r>
                        <a:rPr lang="en-US" sz="1200" b="0" i="0" u="none" strike="noStrike" dirty="0">
                          <a:solidFill>
                            <a:srgbClr val="000000"/>
                          </a:solidFill>
                          <a:effectLst/>
                          <a:latin typeface="Avenir Book" panose="02000503020000020003" pitchFamily="2" charset="0"/>
                        </a:rPr>
                        <a:t>19.84% IRR</a:t>
                      </a:r>
                    </a:p>
                  </a:txBody>
                  <a:tcPr marL="9525" marR="9525" marT="9525" marB="0" anchor="ctr"/>
                </a:tc>
                <a:tc>
                  <a:txBody>
                    <a:bodyPr/>
                    <a:lstStyle/>
                    <a:p>
                      <a:pPr algn="ctr" fontAlgn="ctr">
                        <a:buNone/>
                      </a:pPr>
                      <a:r>
                        <a:rPr lang="en-US" sz="1200" b="0" i="0" u="none" strike="noStrike" dirty="0">
                          <a:solidFill>
                            <a:srgbClr val="000000"/>
                          </a:solidFill>
                          <a:effectLst/>
                          <a:latin typeface="Avenir Book" panose="02000503020000020003" pitchFamily="2" charset="0"/>
                        </a:rPr>
                        <a:t>2.03x EMx</a:t>
                      </a:r>
                    </a:p>
                  </a:txBody>
                  <a:tcPr marL="9525" marR="9525" marT="9525" marB="0" anchor="ctr"/>
                </a:tc>
                <a:tc>
                  <a:txBody>
                    <a:bodyPr/>
                    <a:lstStyle/>
                    <a:p>
                      <a:pPr algn="ctr" fontAlgn="ctr">
                        <a:buNone/>
                      </a:pPr>
                      <a:r>
                        <a:rPr lang="en-US" sz="1200" b="0" i="0" u="none" strike="noStrike" dirty="0">
                          <a:solidFill>
                            <a:srgbClr val="000000"/>
                          </a:solidFill>
                          <a:effectLst/>
                          <a:latin typeface="Avenir Book" panose="02000503020000020003" pitchFamily="2" charset="0"/>
                        </a:rPr>
                        <a:t>Base case</a:t>
                      </a:r>
                    </a:p>
                  </a:txBody>
                  <a:tcPr marL="9525" marR="9525" marT="9525" marB="0" anchor="ctr"/>
                </a:tc>
                <a:extLst>
                  <a:ext uri="{0D108BD9-81ED-4DB2-BD59-A6C34878D82A}">
                    <a16:rowId xmlns:a16="http://schemas.microsoft.com/office/drawing/2014/main" val="3732367329"/>
                  </a:ext>
                </a:extLst>
              </a:tr>
            </a:tbl>
          </a:graphicData>
        </a:graphic>
      </p:graphicFrame>
    </p:spTree>
    <p:extLst>
      <p:ext uri="{BB962C8B-B14F-4D97-AF65-F5344CB8AC3E}">
        <p14:creationId xmlns:p14="http://schemas.microsoft.com/office/powerpoint/2010/main" val="235821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04050-38A8-5EC2-86FE-CDEC4F12C7E9}"/>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01ECEBB3-AC49-8118-59BB-7E6BBA332366}"/>
              </a:ext>
            </a:extLst>
          </p:cNvPr>
          <p:cNvSpPr txBox="1"/>
          <p:nvPr/>
        </p:nvSpPr>
        <p:spPr>
          <a:xfrm>
            <a:off x="510364" y="6209796"/>
            <a:ext cx="4582632" cy="400110"/>
          </a:xfrm>
          <a:prstGeom prst="rect">
            <a:avLst/>
          </a:prstGeom>
          <a:noFill/>
        </p:spPr>
        <p:txBody>
          <a:bodyPr wrap="square">
            <a:spAutoFit/>
          </a:bodyPr>
          <a:lstStyle/>
          <a:p>
            <a:r>
              <a:rPr lang="en-US" sz="2000" dirty="0">
                <a:solidFill>
                  <a:schemeClr val="bg1"/>
                </a:solidFill>
                <a:latin typeface="Georgia" panose="02040502050405020303" pitchFamily="18" charset="0"/>
              </a:rPr>
              <a:t/>
            </a:r>
          </a:p>
        </p:txBody>
      </p:sp>
      <p:sp>
        <p:nvSpPr>
          <p:cNvPr id="14" name="Rectangle 13">
            <a:extLst>
              <a:ext uri="{FF2B5EF4-FFF2-40B4-BE49-F238E27FC236}">
                <a16:creationId xmlns:a16="http://schemas.microsoft.com/office/drawing/2014/main" id="{6ED7864A-F30B-577C-E794-1F55E092E06A}"/>
              </a:ext>
            </a:extLst>
          </p:cNvPr>
          <p:cNvSpPr/>
          <p:nvPr/>
        </p:nvSpPr>
        <p:spPr>
          <a:xfrm>
            <a:off x="-3714" y="5900237"/>
            <a:ext cx="9147714" cy="965200"/>
          </a:xfrm>
          <a:prstGeom prst="rect">
            <a:avLst/>
          </a:prstGeom>
          <a:solidFill>
            <a:srgbClr val="24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AC3B9EC3-D51C-394D-3260-968E8F6DE68D}"/>
              </a:ext>
            </a:extLst>
          </p:cNvPr>
          <p:cNvPicPr>
            <a:picLocks noChangeAspect="1"/>
          </p:cNvPicPr>
          <p:nvPr/>
        </p:nvPicPr>
        <p:blipFill>
          <a:blip r:embed="rId3"/>
          <a:stretch>
            <a:fillRect/>
          </a:stretch>
        </p:blipFill>
        <p:spPr>
          <a:xfrm>
            <a:off x="7587808" y="6280853"/>
            <a:ext cx="1357545" cy="257995"/>
          </a:xfrm>
          <a:prstGeom prst="rect">
            <a:avLst/>
          </a:prstGeom>
        </p:spPr>
      </p:pic>
      <p:sp>
        <p:nvSpPr>
          <p:cNvPr id="19" name="Title 19">
            <a:extLst>
              <a:ext uri="{FF2B5EF4-FFF2-40B4-BE49-F238E27FC236}">
                <a16:creationId xmlns:a16="http://schemas.microsoft.com/office/drawing/2014/main" id="{EAD2ADDF-7E1E-3476-6546-0F6A8C29B47C}"/>
              </a:ext>
            </a:extLst>
          </p:cNvPr>
          <p:cNvSpPr txBox="1">
            <a:spLocks/>
          </p:cNvSpPr>
          <p:nvPr/>
        </p:nvSpPr>
        <p:spPr>
          <a:xfrm>
            <a:off x="339283" y="-92565"/>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latin typeface="Georgia" panose="02040502050405020303" pitchFamily="18" charset="0"/>
              </a:rPr>
              <a:t>Project Schedule</a:t>
            </a:r>
          </a:p>
        </p:txBody>
      </p:sp>
      <p:sp>
        <p:nvSpPr>
          <p:cNvPr id="21" name="TextBox 20">
            <a:extLst>
              <a:ext uri="{FF2B5EF4-FFF2-40B4-BE49-F238E27FC236}">
                <a16:creationId xmlns:a16="http://schemas.microsoft.com/office/drawing/2014/main" id="{42D71780-1B87-497A-168A-A08BD3599EC0}"/>
              </a:ext>
            </a:extLst>
          </p:cNvPr>
          <p:cNvSpPr txBox="1"/>
          <p:nvPr/>
        </p:nvSpPr>
        <p:spPr>
          <a:xfrm>
            <a:off x="244550" y="6267847"/>
            <a:ext cx="4582632" cy="276999"/>
          </a:xfrm>
          <a:prstGeom prst="rect">
            <a:avLst/>
          </a:prstGeom>
          <a:noFill/>
        </p:spPr>
        <p:txBody>
          <a:bodyPr wrap="square">
            <a:spAutoFit/>
          </a:bodyPr>
          <a:lstStyle/>
          <a:p>
            <a:r>
              <a:rPr lang="en-US" sz="1200" dirty="0">
                <a:solidFill>
                  <a:schemeClr val="bg1"/>
                </a:solidFill>
                <a:latin typeface="Avenir Book" panose="02000503020000020003" pitchFamily="2" charset="0"/>
              </a:rPr>
              <a:t>67 East 161st Street — Bronx Defenders Development</a:t>
            </a:r>
          </a:p>
        </p:txBody>
      </p:sp>
      <p:sp>
        <p:nvSpPr>
          <p:cNvPr id="2" name="Slide Number Placeholder 1">
            <a:extLst>
              <a:ext uri="{FF2B5EF4-FFF2-40B4-BE49-F238E27FC236}">
                <a16:creationId xmlns:a16="http://schemas.microsoft.com/office/drawing/2014/main" id="{1B63A364-52D2-7DD1-32B2-B682C5B48AB1}"/>
              </a:ext>
            </a:extLst>
          </p:cNvPr>
          <p:cNvSpPr>
            <a:spLocks noGrp="1"/>
          </p:cNvSpPr>
          <p:nvPr>
            <p:ph type="sldNum" sz="quarter" idx="12"/>
          </p:nvPr>
        </p:nvSpPr>
        <p:spPr>
          <a:xfrm>
            <a:off x="8875968" y="6555065"/>
            <a:ext cx="2057400" cy="365125"/>
          </a:xfrm>
        </p:spPr>
        <p:txBody>
          <a:bodyPr/>
          <a:lstStyle/>
          <a:p>
            <a:fld id="{D80FDC49-7799-154F-AEB4-2120C2C6BE6C}" type="slidenum">
              <a:rPr lang="en-US" smtClean="0"/>
              <a:t>11</a:t>
            </a:fld>
            <a:endParaRPr lang="en-US" dirty="0"/>
          </a:p>
        </p:txBody>
      </p:sp>
      <p:sp>
        <p:nvSpPr>
          <p:cNvPr id="29" name="TextBox 28">
            <a:extLst>
              <a:ext uri="{FF2B5EF4-FFF2-40B4-BE49-F238E27FC236}">
                <a16:creationId xmlns:a16="http://schemas.microsoft.com/office/drawing/2014/main" id="{5A3032E2-5B16-741A-9DF8-E7D7FA084625}"/>
              </a:ext>
            </a:extLst>
          </p:cNvPr>
          <p:cNvSpPr txBox="1"/>
          <p:nvPr/>
        </p:nvSpPr>
        <p:spPr>
          <a:xfrm>
            <a:off x="1185567" y="3358555"/>
            <a:ext cx="1970539" cy="307777"/>
          </a:xfrm>
          <a:prstGeom prst="rect">
            <a:avLst/>
          </a:prstGeom>
          <a:noFill/>
        </p:spPr>
        <p:txBody>
          <a:bodyPr wrap="none" rtlCol="0">
            <a:spAutoFit/>
          </a:bodyPr>
          <a:lstStyle/>
          <a:p>
            <a:r>
              <a:rPr lang="en-US" sz="1400" dirty="0">
                <a:latin typeface="Aptos" panose="020B0004020202020204" pitchFamily="34" charset="0"/>
              </a:rPr>
              <a:t/>
            </a:r>
          </a:p>
        </p:txBody>
      </p:sp>
      <p:sp>
        <p:nvSpPr>
          <p:cNvPr id="30" name="TextBox 29">
            <a:extLst>
              <a:ext uri="{FF2B5EF4-FFF2-40B4-BE49-F238E27FC236}">
                <a16:creationId xmlns:a16="http://schemas.microsoft.com/office/drawing/2014/main" id="{64360D08-0B1F-FD1F-6EEA-2D142C4251AF}"/>
              </a:ext>
            </a:extLst>
          </p:cNvPr>
          <p:cNvSpPr txBox="1"/>
          <p:nvPr/>
        </p:nvSpPr>
        <p:spPr>
          <a:xfrm>
            <a:off x="5577500" y="3358555"/>
            <a:ext cx="1970539" cy="307777"/>
          </a:xfrm>
          <a:prstGeom prst="rect">
            <a:avLst/>
          </a:prstGeom>
          <a:noFill/>
        </p:spPr>
        <p:txBody>
          <a:bodyPr wrap="none" rtlCol="0">
            <a:spAutoFit/>
          </a:bodyPr>
          <a:lstStyle/>
          <a:p>
            <a:r>
              <a:rPr lang="en-US" sz="1400" dirty="0">
                <a:latin typeface="Aptos" panose="020B0004020202020204" pitchFamily="34" charset="0"/>
              </a:rPr>
              <a:t/>
            </a:r>
          </a:p>
        </p:txBody>
      </p:sp>
      <p:sp>
        <p:nvSpPr>
          <p:cNvPr id="32" name="TextBox 31">
            <a:extLst>
              <a:ext uri="{FF2B5EF4-FFF2-40B4-BE49-F238E27FC236}">
                <a16:creationId xmlns:a16="http://schemas.microsoft.com/office/drawing/2014/main" id="{4CC7646D-2162-3F6C-A32F-01ADC2DB9710}"/>
              </a:ext>
            </a:extLst>
          </p:cNvPr>
          <p:cNvSpPr txBox="1"/>
          <p:nvPr/>
        </p:nvSpPr>
        <p:spPr>
          <a:xfrm>
            <a:off x="100207" y="3847809"/>
            <a:ext cx="1050288" cy="307777"/>
          </a:xfrm>
          <a:prstGeom prst="rect">
            <a:avLst/>
          </a:prstGeom>
          <a:noFill/>
        </p:spPr>
        <p:txBody>
          <a:bodyPr wrap="none" rtlCol="0">
            <a:spAutoFit/>
          </a:bodyPr>
          <a:lstStyle/>
          <a:p>
            <a:r>
              <a:rPr lang="en-US" sz="1400" b="1" u="sng" dirty="0">
                <a:latin typeface="Avenir Book" panose="02000503020000020003" pitchFamily="2" charset="0"/>
              </a:rPr>
              <a:t>Milestones</a:t>
            </a:r>
          </a:p>
        </p:txBody>
      </p:sp>
      <p:sp>
        <p:nvSpPr>
          <p:cNvPr id="33" name="TextBox 32">
            <a:extLst>
              <a:ext uri="{FF2B5EF4-FFF2-40B4-BE49-F238E27FC236}">
                <a16:creationId xmlns:a16="http://schemas.microsoft.com/office/drawing/2014/main" id="{10E89A82-7065-BEC7-256F-318D23C92A45}"/>
              </a:ext>
            </a:extLst>
          </p:cNvPr>
          <p:cNvSpPr txBox="1"/>
          <p:nvPr/>
        </p:nvSpPr>
        <p:spPr>
          <a:xfrm>
            <a:off x="7920004" y="5452256"/>
            <a:ext cx="582211" cy="307777"/>
          </a:xfrm>
          <a:prstGeom prst="rect">
            <a:avLst/>
          </a:prstGeom>
          <a:noFill/>
        </p:spPr>
        <p:txBody>
          <a:bodyPr wrap="none" rtlCol="0">
            <a:spAutoFit/>
          </a:bodyPr>
          <a:lstStyle/>
          <a:p>
            <a:r>
              <a:rPr lang="en-US" sz="1400" dirty="0">
                <a:latin typeface="Avenir Book" panose="02000503020000020003" pitchFamily="2" charset="0"/>
              </a:rPr>
              <a:t/>
            </a:r>
          </a:p>
        </p:txBody>
      </p:sp>
      <p:sp>
        <p:nvSpPr>
          <p:cNvPr id="34" name="TextBox 33">
            <a:extLst>
              <a:ext uri="{FF2B5EF4-FFF2-40B4-BE49-F238E27FC236}">
                <a16:creationId xmlns:a16="http://schemas.microsoft.com/office/drawing/2014/main" id="{003A5155-BE81-B171-FC4B-CECAA5753168}"/>
              </a:ext>
            </a:extLst>
          </p:cNvPr>
          <p:cNvSpPr txBox="1"/>
          <p:nvPr/>
        </p:nvSpPr>
        <p:spPr>
          <a:xfrm>
            <a:off x="2194241" y="5480297"/>
            <a:ext cx="582211" cy="307777"/>
          </a:xfrm>
          <a:prstGeom prst="rect">
            <a:avLst/>
          </a:prstGeom>
          <a:noFill/>
        </p:spPr>
        <p:txBody>
          <a:bodyPr wrap="none" rtlCol="0">
            <a:spAutoFit/>
          </a:bodyPr>
          <a:lstStyle/>
          <a:p>
            <a:r>
              <a:rPr lang="en-US" sz="1400" dirty="0">
                <a:latin typeface="Avenir Book" panose="02000503020000020003" pitchFamily="2" charset="0"/>
              </a:rPr>
              <a:t>Q2 – Q4 ’27</a:t>
            </a:r>
          </a:p>
        </p:txBody>
      </p:sp>
      <p:sp>
        <p:nvSpPr>
          <p:cNvPr id="35" name="TextBox 34">
            <a:extLst>
              <a:ext uri="{FF2B5EF4-FFF2-40B4-BE49-F238E27FC236}">
                <a16:creationId xmlns:a16="http://schemas.microsoft.com/office/drawing/2014/main" id="{89BBDBFF-303B-DE7F-E886-B6774DC48E5E}"/>
              </a:ext>
            </a:extLst>
          </p:cNvPr>
          <p:cNvSpPr txBox="1"/>
          <p:nvPr/>
        </p:nvSpPr>
        <p:spPr>
          <a:xfrm>
            <a:off x="3751263" y="5480297"/>
            <a:ext cx="582211" cy="307777"/>
          </a:xfrm>
          <a:prstGeom prst="rect">
            <a:avLst/>
          </a:prstGeom>
          <a:noFill/>
        </p:spPr>
        <p:txBody>
          <a:bodyPr wrap="none" rtlCol="0">
            <a:spAutoFit/>
          </a:bodyPr>
          <a:lstStyle/>
          <a:p>
            <a:r>
              <a:rPr lang="en-US" sz="1400" dirty="0">
                <a:latin typeface="Avenir Book" panose="02000503020000020003" pitchFamily="2" charset="0"/>
              </a:rPr>
              <a:t>Q4 ’27 – Q1 ’28</a:t>
            </a:r>
          </a:p>
        </p:txBody>
      </p:sp>
      <p:sp>
        <p:nvSpPr>
          <p:cNvPr id="36" name="TextBox 35">
            <a:extLst>
              <a:ext uri="{FF2B5EF4-FFF2-40B4-BE49-F238E27FC236}">
                <a16:creationId xmlns:a16="http://schemas.microsoft.com/office/drawing/2014/main" id="{CA36A24A-AA9B-AC52-8C2A-9B780F18AF56}"/>
              </a:ext>
            </a:extLst>
          </p:cNvPr>
          <p:cNvSpPr txBox="1"/>
          <p:nvPr/>
        </p:nvSpPr>
        <p:spPr>
          <a:xfrm>
            <a:off x="5113369" y="5466908"/>
            <a:ext cx="582211" cy="307777"/>
          </a:xfrm>
          <a:prstGeom prst="rect">
            <a:avLst/>
          </a:prstGeom>
          <a:noFill/>
        </p:spPr>
        <p:txBody>
          <a:bodyPr wrap="none" rtlCol="0">
            <a:spAutoFit/>
          </a:bodyPr>
          <a:lstStyle/>
          <a:p>
            <a:r>
              <a:rPr lang="en-US" sz="1400" dirty="0">
                <a:latin typeface="Avenir Book" panose="02000503020000020003" pitchFamily="2" charset="0"/>
              </a:rPr>
              <a:t>Q1 – Q3 ’28</a:t>
            </a:r>
          </a:p>
        </p:txBody>
      </p:sp>
      <p:grpSp>
        <p:nvGrpSpPr>
          <p:cNvPr id="8" name="Arrows" descr="Directional arrows divided into 4 segments pointing to the right." title="Directional arrows">
            <a:extLst>
              <a:ext uri="{FF2B5EF4-FFF2-40B4-BE49-F238E27FC236}">
                <a16:creationId xmlns:a16="http://schemas.microsoft.com/office/drawing/2014/main" id="{A6FC876A-530D-146D-FC39-3660959CD222}"/>
              </a:ext>
            </a:extLst>
          </p:cNvPr>
          <p:cNvGrpSpPr/>
          <p:nvPr/>
        </p:nvGrpSpPr>
        <p:grpSpPr>
          <a:xfrm>
            <a:off x="1719822" y="5182349"/>
            <a:ext cx="5913487" cy="259251"/>
            <a:chOff x="642860" y="2883113"/>
            <a:chExt cx="9150539" cy="1261419"/>
          </a:xfrm>
        </p:grpSpPr>
        <p:sp>
          <p:nvSpPr>
            <p:cNvPr id="11" name="Arrow 4">
              <a:extLst>
                <a:ext uri="{FF2B5EF4-FFF2-40B4-BE49-F238E27FC236}">
                  <a16:creationId xmlns:a16="http://schemas.microsoft.com/office/drawing/2014/main" id="{FE630B12-F123-5AAD-463A-CC34760EEAD7}"/>
                </a:ext>
              </a:extLst>
            </p:cNvPr>
            <p:cNvSpPr/>
            <p:nvPr/>
          </p:nvSpPr>
          <p:spPr>
            <a:xfrm>
              <a:off x="7369213" y="2883113"/>
              <a:ext cx="2424186" cy="1260242"/>
            </a:xfrm>
            <a:prstGeom prst="chevron">
              <a:avLst/>
            </a:prstGeom>
            <a:solidFill>
              <a:schemeClr val="accent4">
                <a:lumMod val="60000"/>
                <a:lumOff val="40000"/>
              </a:scheme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u="none" strike="noStrike" kern="0" cap="none" spc="0" normalizeH="0" baseline="0" dirty="0">
                <a:ln>
                  <a:noFill/>
                </a:ln>
                <a:solidFill>
                  <a:schemeClr val="bg1"/>
                </a:solidFill>
                <a:effectLst/>
                <a:uLnTx/>
                <a:uFillTx/>
                <a:latin typeface="Avenir Book" panose="02000503020000020003" pitchFamily="2" charset="0"/>
              </a:endParaRPr>
            </a:p>
          </p:txBody>
        </p:sp>
        <p:sp>
          <p:nvSpPr>
            <p:cNvPr id="20" name="Arrow 3">
              <a:extLst>
                <a:ext uri="{FF2B5EF4-FFF2-40B4-BE49-F238E27FC236}">
                  <a16:creationId xmlns:a16="http://schemas.microsoft.com/office/drawing/2014/main" id="{515C4332-2D3C-B898-0575-4F4C6C795CEA}"/>
                </a:ext>
              </a:extLst>
            </p:cNvPr>
            <p:cNvSpPr/>
            <p:nvPr/>
          </p:nvSpPr>
          <p:spPr>
            <a:xfrm>
              <a:off x="5195746" y="2883702"/>
              <a:ext cx="2378446" cy="1260242"/>
            </a:xfrm>
            <a:prstGeom prst="chevron">
              <a:avLst/>
            </a:prstGeom>
            <a:solidFill>
              <a:srgbClr val="02BDED"/>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u="none" strike="noStrike" kern="0" cap="none" spc="0" normalizeH="0" baseline="0" dirty="0">
                <a:ln>
                  <a:noFill/>
                </a:ln>
                <a:solidFill>
                  <a:schemeClr val="bg1"/>
                </a:solidFill>
                <a:effectLst/>
                <a:uLnTx/>
                <a:uFillTx/>
                <a:latin typeface="Avenir Book" panose="02000503020000020003" pitchFamily="2" charset="0"/>
              </a:endParaRPr>
            </a:p>
          </p:txBody>
        </p:sp>
        <p:sp>
          <p:nvSpPr>
            <p:cNvPr id="23" name="Arrow 2">
              <a:extLst>
                <a:ext uri="{FF2B5EF4-FFF2-40B4-BE49-F238E27FC236}">
                  <a16:creationId xmlns:a16="http://schemas.microsoft.com/office/drawing/2014/main" id="{C24E840D-BE39-F3D9-E0AB-DE19B8FED7DA}"/>
                </a:ext>
              </a:extLst>
            </p:cNvPr>
            <p:cNvSpPr/>
            <p:nvPr/>
          </p:nvSpPr>
          <p:spPr>
            <a:xfrm>
              <a:off x="3014022" y="2883702"/>
              <a:ext cx="2385494" cy="1260830"/>
            </a:xfrm>
            <a:prstGeom prst="chevron">
              <a:avLst/>
            </a:prstGeom>
            <a:solidFill>
              <a:schemeClr val="accent4">
                <a:lumMod val="75000"/>
              </a:scheme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u="none" strike="noStrike" kern="0" cap="none" spc="0" normalizeH="0" baseline="0" dirty="0">
                <a:ln>
                  <a:noFill/>
                </a:ln>
                <a:solidFill>
                  <a:schemeClr val="bg1"/>
                </a:solidFill>
                <a:effectLst/>
                <a:uLnTx/>
                <a:uFillTx/>
                <a:latin typeface="Avenir Book" panose="02000503020000020003" pitchFamily="2" charset="0"/>
              </a:endParaRPr>
            </a:p>
          </p:txBody>
        </p:sp>
        <p:sp>
          <p:nvSpPr>
            <p:cNvPr id="24" name="Arrow 1">
              <a:extLst>
                <a:ext uri="{FF2B5EF4-FFF2-40B4-BE49-F238E27FC236}">
                  <a16:creationId xmlns:a16="http://schemas.microsoft.com/office/drawing/2014/main" id="{0978520E-FEF9-6DE1-B6FB-FA0F44C46025}"/>
                </a:ext>
              </a:extLst>
            </p:cNvPr>
            <p:cNvSpPr/>
            <p:nvPr/>
          </p:nvSpPr>
          <p:spPr>
            <a:xfrm>
              <a:off x="642860" y="2883702"/>
              <a:ext cx="2580311" cy="1259652"/>
            </a:xfrm>
            <a:prstGeom prst="homePlate">
              <a:avLst/>
            </a:prstGeom>
            <a:solidFill>
              <a:srgbClr val="2D5E7E"/>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u="none" strike="noStrike" kern="0" cap="none" spc="0" normalizeH="0" baseline="0" dirty="0">
                <a:ln>
                  <a:noFill/>
                </a:ln>
                <a:solidFill>
                  <a:schemeClr val="bg1"/>
                </a:solidFill>
                <a:effectLst/>
                <a:uLnTx/>
                <a:uFillTx/>
                <a:latin typeface="Avenir Book" panose="02000503020000020003" pitchFamily="2" charset="0"/>
              </a:endParaRPr>
            </a:p>
          </p:txBody>
        </p:sp>
      </p:grpSp>
      <p:sp>
        <p:nvSpPr>
          <p:cNvPr id="25" name="Rectangle 24">
            <a:extLst>
              <a:ext uri="{FF2B5EF4-FFF2-40B4-BE49-F238E27FC236}">
                <a16:creationId xmlns:a16="http://schemas.microsoft.com/office/drawing/2014/main" id="{1F791807-502D-7530-90B6-0E7E3D19AD36}"/>
              </a:ext>
            </a:extLst>
          </p:cNvPr>
          <p:cNvSpPr/>
          <p:nvPr/>
        </p:nvSpPr>
        <p:spPr>
          <a:xfrm>
            <a:off x="6174710" y="5466041"/>
            <a:ext cx="2013444" cy="461665"/>
          </a:xfrm>
          <a:prstGeom prst="rect">
            <a:avLst/>
          </a:prstGeom>
        </p:spPr>
        <p:txBody>
          <a:bodyPr wrap="square">
            <a:spAutoFit/>
          </a:bodyPr>
          <a:lstStyle/>
          <a:p>
            <a:r>
              <a:rPr lang="en-US" sz="1200" dirty="0">
                <a:solidFill>
                  <a:schemeClr val="bg1"/>
                </a:solidFill>
                <a:latin typeface="Avenir Book" panose="02000503020000020003" pitchFamily="2" charset="0"/>
                <a:cs typeface="Lato Heavy" panose="020F0902020204030203" pitchFamily="34" charset="0"/>
              </a:rPr>
              <a:t>Façade, MEP &amp; Interior</a:t>
            </a:r>
          </a:p>
        </p:txBody>
      </p:sp>
      <p:sp>
        <p:nvSpPr>
          <p:cNvPr id="38" name="Arrow 4">
            <a:extLst>
              <a:ext uri="{FF2B5EF4-FFF2-40B4-BE49-F238E27FC236}">
                <a16:creationId xmlns:a16="http://schemas.microsoft.com/office/drawing/2014/main" id="{5E30B15C-51C8-3565-6FA6-5550AF088ACA}"/>
              </a:ext>
            </a:extLst>
          </p:cNvPr>
          <p:cNvSpPr/>
          <p:nvPr/>
        </p:nvSpPr>
        <p:spPr>
          <a:xfrm>
            <a:off x="7492048" y="5182274"/>
            <a:ext cx="1563052" cy="260228"/>
          </a:xfrm>
          <a:prstGeom prst="chevron">
            <a:avLst/>
          </a:prstGeom>
          <a:solidFill>
            <a:schemeClr val="accent4">
              <a:lumMod val="40000"/>
              <a:lumOff val="60000"/>
            </a:scheme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u="none" strike="noStrike" kern="0" cap="none" spc="0" normalizeH="0" baseline="0" dirty="0">
              <a:ln>
                <a:noFill/>
              </a:ln>
              <a:solidFill>
                <a:prstClr val="black"/>
              </a:solidFill>
              <a:effectLst/>
              <a:uLnTx/>
              <a:uFillTx/>
              <a:latin typeface="Avenir Book" panose="02000503020000020003" pitchFamily="2" charset="0"/>
            </a:endParaRPr>
          </a:p>
        </p:txBody>
      </p:sp>
      <p:sp>
        <p:nvSpPr>
          <p:cNvPr id="26" name="TextBox 25">
            <a:extLst>
              <a:ext uri="{FF2B5EF4-FFF2-40B4-BE49-F238E27FC236}">
                <a16:creationId xmlns:a16="http://schemas.microsoft.com/office/drawing/2014/main" id="{F0F7C4ED-35B7-E5E2-A336-CBE8797B6F06}"/>
              </a:ext>
            </a:extLst>
          </p:cNvPr>
          <p:cNvSpPr txBox="1"/>
          <p:nvPr/>
        </p:nvSpPr>
        <p:spPr>
          <a:xfrm>
            <a:off x="120897" y="4879872"/>
            <a:ext cx="522900" cy="307777"/>
          </a:xfrm>
          <a:prstGeom prst="rect">
            <a:avLst/>
          </a:prstGeom>
          <a:noFill/>
        </p:spPr>
        <p:txBody>
          <a:bodyPr wrap="none" rtlCol="0">
            <a:spAutoFit/>
          </a:bodyPr>
          <a:lstStyle/>
          <a:p>
            <a:r>
              <a:rPr lang="en-US" sz="1400" b="1" u="sng" dirty="0">
                <a:latin typeface="Avenir Book" panose="02000503020000020003" pitchFamily="2" charset="0"/>
              </a:rPr>
              <a:t>Phase</a:t>
            </a:r>
          </a:p>
        </p:txBody>
      </p:sp>
      <p:sp>
        <p:nvSpPr>
          <p:cNvPr id="39" name="TextBox 38">
            <a:extLst>
              <a:ext uri="{FF2B5EF4-FFF2-40B4-BE49-F238E27FC236}">
                <a16:creationId xmlns:a16="http://schemas.microsoft.com/office/drawing/2014/main" id="{0275F224-A77C-92CE-3302-918E35356F0F}"/>
              </a:ext>
            </a:extLst>
          </p:cNvPr>
          <p:cNvSpPr txBox="1"/>
          <p:nvPr/>
        </p:nvSpPr>
        <p:spPr>
          <a:xfrm>
            <a:off x="6505209" y="5460558"/>
            <a:ext cx="582211" cy="307777"/>
          </a:xfrm>
          <a:prstGeom prst="rect">
            <a:avLst/>
          </a:prstGeom>
          <a:noFill/>
        </p:spPr>
        <p:txBody>
          <a:bodyPr wrap="none" rtlCol="0">
            <a:spAutoFit/>
          </a:bodyPr>
          <a:lstStyle/>
          <a:p>
            <a:r>
              <a:rPr lang="en-US" sz="1400" dirty="0">
                <a:latin typeface="Avenir Book" panose="02000503020000020003" pitchFamily="2" charset="0"/>
              </a:rPr>
              <a:t>Q4 ’28 – Q1 ’29</a:t>
            </a:r>
          </a:p>
        </p:txBody>
      </p:sp>
      <p:sp>
        <p:nvSpPr>
          <p:cNvPr id="40" name="Rectangle 39">
            <a:extLst>
              <a:ext uri="{FF2B5EF4-FFF2-40B4-BE49-F238E27FC236}">
                <a16:creationId xmlns:a16="http://schemas.microsoft.com/office/drawing/2014/main" id="{541C5F56-C9B7-B812-FD41-C508F7065E2B}"/>
              </a:ext>
            </a:extLst>
          </p:cNvPr>
          <p:cNvSpPr/>
          <p:nvPr/>
        </p:nvSpPr>
        <p:spPr>
          <a:xfrm>
            <a:off x="1737975" y="5195036"/>
            <a:ext cx="1541613" cy="261610"/>
          </a:xfrm>
          <a:prstGeom prst="rect">
            <a:avLst/>
          </a:prstGeom>
        </p:spPr>
        <p:txBody>
          <a:bodyPr wrap="square">
            <a:spAutoFit/>
          </a:bodyPr>
          <a:lstStyle/>
          <a:p>
            <a:pPr algn="ctr"/>
            <a:r>
              <a:rPr lang="en-US" sz="1100" dirty="0">
                <a:solidFill>
                  <a:schemeClr val="bg1"/>
                </a:solidFill>
                <a:latin typeface="Avenir Book" panose="02000503020000020003" pitchFamily="2" charset="0"/>
                <a:cs typeface="Lato Heavy" panose="020F0902020204030203" pitchFamily="34" charset="0"/>
              </a:rPr>
              <a:t>6 months</a:t>
            </a:r>
          </a:p>
        </p:txBody>
      </p:sp>
      <p:sp>
        <p:nvSpPr>
          <p:cNvPr id="41" name="Rectangle 40">
            <a:extLst>
              <a:ext uri="{FF2B5EF4-FFF2-40B4-BE49-F238E27FC236}">
                <a16:creationId xmlns:a16="http://schemas.microsoft.com/office/drawing/2014/main" id="{2B04A751-2F37-A131-7551-283D730BBB58}"/>
              </a:ext>
            </a:extLst>
          </p:cNvPr>
          <p:cNvSpPr/>
          <p:nvPr/>
        </p:nvSpPr>
        <p:spPr>
          <a:xfrm>
            <a:off x="3293078" y="5192424"/>
            <a:ext cx="1426118" cy="261610"/>
          </a:xfrm>
          <a:prstGeom prst="rect">
            <a:avLst/>
          </a:prstGeom>
        </p:spPr>
        <p:txBody>
          <a:bodyPr wrap="square">
            <a:spAutoFit/>
          </a:bodyPr>
          <a:lstStyle/>
          <a:p>
            <a:pPr algn="ctr"/>
            <a:r>
              <a:rPr lang="en-US" sz="1100" dirty="0">
                <a:solidFill>
                  <a:schemeClr val="bg1"/>
                </a:solidFill>
                <a:latin typeface="Avenir Book" panose="02000503020000020003" pitchFamily="2" charset="0"/>
                <a:cs typeface="Lato Heavy" panose="020F0902020204030203" pitchFamily="34" charset="0"/>
              </a:rPr>
              <a:t>3 months</a:t>
            </a:r>
          </a:p>
        </p:txBody>
      </p:sp>
      <p:sp>
        <p:nvSpPr>
          <p:cNvPr id="42" name="Rectangle 41">
            <a:extLst>
              <a:ext uri="{FF2B5EF4-FFF2-40B4-BE49-F238E27FC236}">
                <a16:creationId xmlns:a16="http://schemas.microsoft.com/office/drawing/2014/main" id="{126A8E59-C999-4F37-C645-AA28242E2010}"/>
              </a:ext>
            </a:extLst>
          </p:cNvPr>
          <p:cNvSpPr/>
          <p:nvPr/>
        </p:nvSpPr>
        <p:spPr>
          <a:xfrm>
            <a:off x="4700246" y="5198891"/>
            <a:ext cx="1426118" cy="261610"/>
          </a:xfrm>
          <a:prstGeom prst="rect">
            <a:avLst/>
          </a:prstGeom>
        </p:spPr>
        <p:txBody>
          <a:bodyPr wrap="square">
            <a:spAutoFit/>
          </a:bodyPr>
          <a:lstStyle/>
          <a:p>
            <a:pPr algn="ctr"/>
            <a:r>
              <a:rPr lang="en-US" sz="1100" dirty="0">
                <a:solidFill>
                  <a:schemeClr val="bg1"/>
                </a:solidFill>
                <a:latin typeface="Avenir Book" panose="02000503020000020003" pitchFamily="2" charset="0"/>
                <a:cs typeface="Lato Heavy" panose="020F0902020204030203" pitchFamily="34" charset="0"/>
              </a:rPr>
              <a:t>9 months</a:t>
            </a:r>
          </a:p>
        </p:txBody>
      </p:sp>
      <p:sp>
        <p:nvSpPr>
          <p:cNvPr id="43" name="Rectangle 42">
            <a:extLst>
              <a:ext uri="{FF2B5EF4-FFF2-40B4-BE49-F238E27FC236}">
                <a16:creationId xmlns:a16="http://schemas.microsoft.com/office/drawing/2014/main" id="{33D5DAFC-44AE-409A-ACE4-D092A6A41CFB}"/>
              </a:ext>
            </a:extLst>
          </p:cNvPr>
          <p:cNvSpPr/>
          <p:nvPr/>
        </p:nvSpPr>
        <p:spPr>
          <a:xfrm>
            <a:off x="6158640" y="5194725"/>
            <a:ext cx="1352853" cy="261610"/>
          </a:xfrm>
          <a:prstGeom prst="rect">
            <a:avLst/>
          </a:prstGeom>
        </p:spPr>
        <p:txBody>
          <a:bodyPr wrap="square">
            <a:spAutoFit/>
          </a:bodyPr>
          <a:lstStyle/>
          <a:p>
            <a:pPr algn="ctr"/>
            <a:r>
              <a:rPr lang="en-US" sz="1100" dirty="0">
                <a:solidFill>
                  <a:schemeClr val="bg1"/>
                </a:solidFill>
                <a:latin typeface="Avenir Book" panose="02000503020000020003" pitchFamily="2" charset="0"/>
                <a:cs typeface="Lato Heavy" panose="020F0902020204030203" pitchFamily="34" charset="0"/>
              </a:rPr>
              <a:t>4 months</a:t>
            </a:r>
          </a:p>
        </p:txBody>
      </p:sp>
      <p:sp>
        <p:nvSpPr>
          <p:cNvPr id="44" name="Rectangle 43">
            <a:extLst>
              <a:ext uri="{FF2B5EF4-FFF2-40B4-BE49-F238E27FC236}">
                <a16:creationId xmlns:a16="http://schemas.microsoft.com/office/drawing/2014/main" id="{812E36D8-9FF3-A7DD-78A3-782549C28EAE}"/>
              </a:ext>
            </a:extLst>
          </p:cNvPr>
          <p:cNvSpPr/>
          <p:nvPr/>
        </p:nvSpPr>
        <p:spPr>
          <a:xfrm>
            <a:off x="7599321" y="5194725"/>
            <a:ext cx="1352853" cy="261610"/>
          </a:xfrm>
          <a:prstGeom prst="rect">
            <a:avLst/>
          </a:prstGeom>
        </p:spPr>
        <p:txBody>
          <a:bodyPr wrap="square">
            <a:spAutoFit/>
          </a:bodyPr>
          <a:lstStyle/>
          <a:p>
            <a:pPr algn="ctr"/>
            <a:r>
              <a:rPr lang="en-US" sz="1100" dirty="0">
                <a:solidFill>
                  <a:schemeClr val="bg1"/>
                </a:solidFill>
                <a:latin typeface="Avenir Book" panose="02000503020000020003" pitchFamily="2" charset="0"/>
                <a:cs typeface="Lato Heavy" panose="020F0902020204030203" pitchFamily="34" charset="0"/>
              </a:rPr>
              <a:t/>
            </a:r>
          </a:p>
        </p:txBody>
      </p:sp>
      <p:sp>
        <p:nvSpPr>
          <p:cNvPr id="4" name="TextBox 3">
            <a:extLst>
              <a:ext uri="{FF2B5EF4-FFF2-40B4-BE49-F238E27FC236}">
                <a16:creationId xmlns:a16="http://schemas.microsoft.com/office/drawing/2014/main" id="{A82398CC-714E-D893-FD13-D8E0A83F9524}"/>
              </a:ext>
            </a:extLst>
          </p:cNvPr>
          <p:cNvSpPr txBox="1"/>
          <p:nvPr/>
        </p:nvSpPr>
        <p:spPr>
          <a:xfrm>
            <a:off x="8236500" y="5679615"/>
            <a:ext cx="803425" cy="246221"/>
          </a:xfrm>
          <a:prstGeom prst="rect">
            <a:avLst/>
          </a:prstGeom>
          <a:noFill/>
        </p:spPr>
        <p:txBody>
          <a:bodyPr wrap="none" rtlCol="0">
            <a:spAutoFit/>
          </a:bodyPr>
          <a:lstStyle/>
          <a:p>
            <a:r>
              <a:rPr lang="en-US" sz="1000" dirty="0"/>
              <a:t>Source: 67 E 161 Street Critical Path Schedule (5.1.2026). Phase durations rounded.</a:t>
            </a:r>
          </a:p>
        </p:txBody>
      </p:sp>
      <p:sp>
        <p:nvSpPr>
          <p:cNvPr id="3" name="Arrow 1">
            <a:extLst>
              <a:ext uri="{FF2B5EF4-FFF2-40B4-BE49-F238E27FC236}">
                <a16:creationId xmlns:a16="http://schemas.microsoft.com/office/drawing/2014/main" id="{32B04076-EF67-0EA8-9A4E-91BCB06A7AF8}"/>
              </a:ext>
            </a:extLst>
          </p:cNvPr>
          <p:cNvSpPr/>
          <p:nvPr/>
        </p:nvSpPr>
        <p:spPr>
          <a:xfrm>
            <a:off x="172904" y="5183313"/>
            <a:ext cx="1667512" cy="258888"/>
          </a:xfrm>
          <a:prstGeom prst="homePlate">
            <a:avLst/>
          </a:prstGeom>
          <a:solidFill>
            <a:srgbClr val="242E3F"/>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u="none" strike="noStrike" kern="0" cap="none" spc="0" normalizeH="0" baseline="0" dirty="0">
              <a:ln>
                <a:noFill/>
              </a:ln>
              <a:solidFill>
                <a:schemeClr val="bg1"/>
              </a:solidFill>
              <a:effectLst/>
              <a:uLnTx/>
              <a:uFillTx/>
              <a:latin typeface="Avenir Book" panose="02000503020000020003" pitchFamily="2" charset="0"/>
            </a:endParaRPr>
          </a:p>
        </p:txBody>
      </p:sp>
      <p:sp>
        <p:nvSpPr>
          <p:cNvPr id="49" name="Rectangle 48">
            <a:extLst>
              <a:ext uri="{FF2B5EF4-FFF2-40B4-BE49-F238E27FC236}">
                <a16:creationId xmlns:a16="http://schemas.microsoft.com/office/drawing/2014/main" id="{A3D429B2-B45A-5053-6444-313E4DF301F5}"/>
              </a:ext>
            </a:extLst>
          </p:cNvPr>
          <p:cNvSpPr/>
          <p:nvPr/>
        </p:nvSpPr>
        <p:spPr>
          <a:xfrm>
            <a:off x="164086" y="5207968"/>
            <a:ext cx="1541613" cy="261610"/>
          </a:xfrm>
          <a:prstGeom prst="rect">
            <a:avLst/>
          </a:prstGeom>
        </p:spPr>
        <p:txBody>
          <a:bodyPr wrap="square">
            <a:spAutoFit/>
          </a:bodyPr>
          <a:lstStyle/>
          <a:p>
            <a:pPr algn="ctr"/>
            <a:r>
              <a:rPr lang="en-US" sz="1100" dirty="0">
                <a:solidFill>
                  <a:schemeClr val="bg1"/>
                </a:solidFill>
                <a:latin typeface="Avenir Book" panose="02000503020000020003" pitchFamily="2" charset="0"/>
                <a:cs typeface="Lato Heavy" panose="020F0902020204030203" pitchFamily="34" charset="0"/>
              </a:rPr>
              <a:t>12 months</a:t>
            </a:r>
          </a:p>
        </p:txBody>
      </p:sp>
      <p:sp>
        <p:nvSpPr>
          <p:cNvPr id="50" name="TextBox 49">
            <a:extLst>
              <a:ext uri="{FF2B5EF4-FFF2-40B4-BE49-F238E27FC236}">
                <a16:creationId xmlns:a16="http://schemas.microsoft.com/office/drawing/2014/main" id="{A423F528-DBE2-68CF-A3B5-A4CE5DCA86AD}"/>
              </a:ext>
            </a:extLst>
          </p:cNvPr>
          <p:cNvSpPr txBox="1"/>
          <p:nvPr/>
        </p:nvSpPr>
        <p:spPr>
          <a:xfrm>
            <a:off x="665030" y="5480297"/>
            <a:ext cx="582211" cy="307777"/>
          </a:xfrm>
          <a:prstGeom prst="rect">
            <a:avLst/>
          </a:prstGeom>
          <a:noFill/>
        </p:spPr>
        <p:txBody>
          <a:bodyPr wrap="none" rtlCol="0">
            <a:spAutoFit/>
          </a:bodyPr>
          <a:lstStyle/>
          <a:p>
            <a:r>
              <a:rPr lang="en-US" sz="1400" dirty="0">
                <a:latin typeface="Avenir Book" panose="02000503020000020003" pitchFamily="2" charset="0"/>
              </a:rPr>
              <a:t>Q3 ’26 – Q2 ’27</a:t>
            </a:r>
          </a:p>
        </p:txBody>
      </p:sp>
      <p:grpSp>
        <p:nvGrpSpPr>
          <p:cNvPr id="51" name="Arrows" descr="Directional arrows divided into 4 segments pointing to the right." title="Directional arrows">
            <a:extLst>
              <a:ext uri="{FF2B5EF4-FFF2-40B4-BE49-F238E27FC236}">
                <a16:creationId xmlns:a16="http://schemas.microsoft.com/office/drawing/2014/main" id="{A732A828-0F67-AF44-9F84-200C7A6D55D7}"/>
              </a:ext>
            </a:extLst>
          </p:cNvPr>
          <p:cNvGrpSpPr/>
          <p:nvPr/>
        </p:nvGrpSpPr>
        <p:grpSpPr>
          <a:xfrm>
            <a:off x="1441047" y="4125776"/>
            <a:ext cx="6177088" cy="692831"/>
            <a:chOff x="234965" y="2883113"/>
            <a:chExt cx="9558435" cy="1261419"/>
          </a:xfrm>
        </p:grpSpPr>
        <p:sp>
          <p:nvSpPr>
            <p:cNvPr id="52" name="Arrow 4">
              <a:extLst>
                <a:ext uri="{FF2B5EF4-FFF2-40B4-BE49-F238E27FC236}">
                  <a16:creationId xmlns:a16="http://schemas.microsoft.com/office/drawing/2014/main" id="{7C9D880D-2A68-6EBC-BB58-D3A3A7706609}"/>
                </a:ext>
              </a:extLst>
            </p:cNvPr>
            <p:cNvSpPr/>
            <p:nvPr/>
          </p:nvSpPr>
          <p:spPr>
            <a:xfrm>
              <a:off x="7012664" y="2883113"/>
              <a:ext cx="2780736" cy="1260243"/>
            </a:xfrm>
            <a:prstGeom prst="chevron">
              <a:avLst/>
            </a:prstGeom>
            <a:solidFill>
              <a:schemeClr val="accent4">
                <a:lumMod val="60000"/>
                <a:lumOff val="40000"/>
              </a:scheme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u="none" strike="noStrike" kern="0" cap="none" spc="0" normalizeH="0" baseline="0" dirty="0">
                <a:ln>
                  <a:noFill/>
                </a:ln>
                <a:solidFill>
                  <a:schemeClr val="bg1"/>
                </a:solidFill>
                <a:effectLst/>
                <a:uLnTx/>
                <a:uFillTx/>
                <a:latin typeface="Avenir Book" panose="02000503020000020003" pitchFamily="2" charset="0"/>
              </a:endParaRPr>
            </a:p>
          </p:txBody>
        </p:sp>
        <p:sp>
          <p:nvSpPr>
            <p:cNvPr id="53" name="Arrow 3">
              <a:extLst>
                <a:ext uri="{FF2B5EF4-FFF2-40B4-BE49-F238E27FC236}">
                  <a16:creationId xmlns:a16="http://schemas.microsoft.com/office/drawing/2014/main" id="{515FFBDB-A6A7-0F33-3D38-CC2E791EF65A}"/>
                </a:ext>
              </a:extLst>
            </p:cNvPr>
            <p:cNvSpPr/>
            <p:nvPr/>
          </p:nvSpPr>
          <p:spPr>
            <a:xfrm>
              <a:off x="4721626" y="2883703"/>
              <a:ext cx="2852565" cy="1260243"/>
            </a:xfrm>
            <a:prstGeom prst="chevron">
              <a:avLst/>
            </a:prstGeom>
            <a:solidFill>
              <a:srgbClr val="02BDED"/>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u="none" strike="noStrike" kern="0" cap="none" spc="0" normalizeH="0" baseline="0" dirty="0">
                <a:ln>
                  <a:noFill/>
                </a:ln>
                <a:solidFill>
                  <a:schemeClr val="bg1"/>
                </a:solidFill>
                <a:effectLst/>
                <a:uLnTx/>
                <a:uFillTx/>
                <a:latin typeface="Avenir Book" panose="02000503020000020003" pitchFamily="2" charset="0"/>
              </a:endParaRPr>
            </a:p>
          </p:txBody>
        </p:sp>
        <p:sp>
          <p:nvSpPr>
            <p:cNvPr id="54" name="Arrow 2">
              <a:extLst>
                <a:ext uri="{FF2B5EF4-FFF2-40B4-BE49-F238E27FC236}">
                  <a16:creationId xmlns:a16="http://schemas.microsoft.com/office/drawing/2014/main" id="{7F39C8F4-DB7A-C9A4-29E6-020EB764354F}"/>
                </a:ext>
              </a:extLst>
            </p:cNvPr>
            <p:cNvSpPr/>
            <p:nvPr/>
          </p:nvSpPr>
          <p:spPr>
            <a:xfrm>
              <a:off x="2553893" y="2883703"/>
              <a:ext cx="2845623" cy="1260829"/>
            </a:xfrm>
            <a:prstGeom prst="chevron">
              <a:avLst/>
            </a:prstGeom>
            <a:solidFill>
              <a:schemeClr val="accent4">
                <a:lumMod val="75000"/>
              </a:scheme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u="none" strike="noStrike" kern="0" cap="none" spc="0" normalizeH="0" baseline="0" dirty="0">
                <a:ln>
                  <a:noFill/>
                </a:ln>
                <a:solidFill>
                  <a:schemeClr val="bg1"/>
                </a:solidFill>
                <a:effectLst/>
                <a:uLnTx/>
                <a:uFillTx/>
                <a:latin typeface="Avenir Book" panose="02000503020000020003" pitchFamily="2" charset="0"/>
              </a:endParaRPr>
            </a:p>
          </p:txBody>
        </p:sp>
        <p:sp>
          <p:nvSpPr>
            <p:cNvPr id="55" name="Arrow 1">
              <a:extLst>
                <a:ext uri="{FF2B5EF4-FFF2-40B4-BE49-F238E27FC236}">
                  <a16:creationId xmlns:a16="http://schemas.microsoft.com/office/drawing/2014/main" id="{4E0D8280-1208-6C20-355C-83688C9EC41B}"/>
                </a:ext>
              </a:extLst>
            </p:cNvPr>
            <p:cNvSpPr/>
            <p:nvPr/>
          </p:nvSpPr>
          <p:spPr>
            <a:xfrm>
              <a:off x="234965" y="2883703"/>
              <a:ext cx="2988206" cy="1259651"/>
            </a:xfrm>
            <a:prstGeom prst="homePlate">
              <a:avLst/>
            </a:prstGeom>
            <a:solidFill>
              <a:srgbClr val="2D5E7E"/>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u="none" strike="noStrike" kern="0" cap="none" spc="0" normalizeH="0" baseline="0" dirty="0">
                <a:ln>
                  <a:noFill/>
                </a:ln>
                <a:solidFill>
                  <a:schemeClr val="bg1"/>
                </a:solidFill>
                <a:effectLst/>
                <a:uLnTx/>
                <a:uFillTx/>
                <a:latin typeface="Avenir Book" panose="02000503020000020003" pitchFamily="2" charset="0"/>
              </a:endParaRPr>
            </a:p>
          </p:txBody>
        </p:sp>
      </p:grpSp>
      <p:sp>
        <p:nvSpPr>
          <p:cNvPr id="56" name="Arrow 4">
            <a:extLst>
              <a:ext uri="{FF2B5EF4-FFF2-40B4-BE49-F238E27FC236}">
                <a16:creationId xmlns:a16="http://schemas.microsoft.com/office/drawing/2014/main" id="{6515EB05-E433-5007-77D3-819DC8B8E571}"/>
              </a:ext>
            </a:extLst>
          </p:cNvPr>
          <p:cNvSpPr/>
          <p:nvPr/>
        </p:nvSpPr>
        <p:spPr>
          <a:xfrm>
            <a:off x="7242889" y="4124067"/>
            <a:ext cx="1797036" cy="695442"/>
          </a:xfrm>
          <a:prstGeom prst="chevron">
            <a:avLst/>
          </a:prstGeom>
          <a:solidFill>
            <a:schemeClr val="accent4">
              <a:lumMod val="40000"/>
              <a:lumOff val="60000"/>
            </a:schemeClr>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u="none" strike="noStrike" kern="0" cap="none" spc="0" normalizeH="0" baseline="0" dirty="0">
              <a:ln>
                <a:noFill/>
              </a:ln>
              <a:solidFill>
                <a:prstClr val="black"/>
              </a:solidFill>
              <a:effectLst/>
              <a:uLnTx/>
              <a:uFillTx/>
              <a:latin typeface="Avenir Book" panose="02000503020000020003" pitchFamily="2" charset="0"/>
            </a:endParaRPr>
          </a:p>
        </p:txBody>
      </p:sp>
      <p:sp>
        <p:nvSpPr>
          <p:cNvPr id="62" name="Arrow 1">
            <a:extLst>
              <a:ext uri="{FF2B5EF4-FFF2-40B4-BE49-F238E27FC236}">
                <a16:creationId xmlns:a16="http://schemas.microsoft.com/office/drawing/2014/main" id="{EEA07752-80CF-49B4-0278-A713A14698E0}"/>
              </a:ext>
            </a:extLst>
          </p:cNvPr>
          <p:cNvSpPr/>
          <p:nvPr/>
        </p:nvSpPr>
        <p:spPr>
          <a:xfrm>
            <a:off x="157729" y="4127347"/>
            <a:ext cx="1667512" cy="691861"/>
          </a:xfrm>
          <a:prstGeom prst="homePlate">
            <a:avLst/>
          </a:prstGeom>
          <a:solidFill>
            <a:srgbClr val="242E3F"/>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u="none" strike="noStrike" kern="0" cap="none" spc="0" normalizeH="0" baseline="0" dirty="0">
              <a:ln>
                <a:noFill/>
              </a:ln>
              <a:solidFill>
                <a:schemeClr val="bg1"/>
              </a:solidFill>
              <a:effectLst/>
              <a:uLnTx/>
              <a:uFillTx/>
              <a:latin typeface="Avenir Book" panose="02000503020000020003" pitchFamily="2" charset="0"/>
            </a:endParaRPr>
          </a:p>
        </p:txBody>
      </p:sp>
      <p:sp>
        <p:nvSpPr>
          <p:cNvPr id="16" name="Rectangle 15">
            <a:extLst>
              <a:ext uri="{FF2B5EF4-FFF2-40B4-BE49-F238E27FC236}">
                <a16:creationId xmlns:a16="http://schemas.microsoft.com/office/drawing/2014/main" id="{EB9406EF-93BB-B8D9-DF79-1DA43AEF573C}"/>
              </a:ext>
            </a:extLst>
          </p:cNvPr>
          <p:cNvSpPr/>
          <p:nvPr/>
        </p:nvSpPr>
        <p:spPr>
          <a:xfrm>
            <a:off x="4742139" y="4147578"/>
            <a:ext cx="1094298" cy="707886"/>
          </a:xfrm>
          <a:prstGeom prst="rect">
            <a:avLst/>
          </a:prstGeom>
        </p:spPr>
        <p:txBody>
          <a:bodyPr wrap="square">
            <a:spAutoFit/>
          </a:bodyPr>
          <a:lstStyle/>
          <a:p>
            <a:pPr algn="ctr"/>
            <a:r>
              <a:rPr lang="en-US" sz="1000" dirty="0">
                <a:solidFill>
                  <a:schemeClr val="bg1"/>
                </a:solidFill>
                <a:latin typeface="Avenir Book" panose="02000503020000020003" pitchFamily="2" charset="0"/>
                <a:cs typeface="Lato Heavy" panose="020F0902020204030203" pitchFamily="34" charset="0"/>
              </a:rPr>
              <a:t>Façade, MEP &amp; Interior</a:t>
            </a:r>
          </a:p>
        </p:txBody>
      </p:sp>
      <p:sp>
        <p:nvSpPr>
          <p:cNvPr id="17" name="Rectangle 15">
            <a:extLst>
              <a:ext uri="{FF2B5EF4-FFF2-40B4-BE49-F238E27FC236}">
                <a16:creationId xmlns:a16="http://schemas.microsoft.com/office/drawing/2014/main" id="{D46622C7-1BD9-F032-F9FC-634F4B24CD1C}"/>
              </a:ext>
            </a:extLst>
          </p:cNvPr>
          <p:cNvSpPr/>
          <p:nvPr/>
        </p:nvSpPr>
        <p:spPr>
          <a:xfrm>
            <a:off x="3327893" y="4275888"/>
            <a:ext cx="1158667" cy="400110"/>
          </a:xfrm>
          <a:prstGeom prst="rect">
            <a:avLst/>
          </a:prstGeom>
        </p:spPr>
        <p:txBody>
          <a:bodyPr wrap="square">
            <a:spAutoFit/>
          </a:bodyPr>
          <a:lstStyle/>
          <a:p>
            <a:pPr algn="ctr"/>
            <a:r>
              <a:rPr lang="en-US" sz="1000" dirty="0">
                <a:solidFill>
                  <a:schemeClr val="bg1"/>
                </a:solidFill>
                <a:latin typeface="Avenir Book" panose="02000503020000020003" pitchFamily="2" charset="0"/>
                <a:cs typeface="Lato Heavy" panose="020F0902020204030203" pitchFamily="34" charset="0"/>
              </a:rPr>
              <a:t>Superstructure &amp; Temp Roof</a:t>
            </a:r>
          </a:p>
        </p:txBody>
      </p:sp>
      <p:sp>
        <p:nvSpPr>
          <p:cNvPr id="18" name="Rectangle 15">
            <a:extLst>
              <a:ext uri="{FF2B5EF4-FFF2-40B4-BE49-F238E27FC236}">
                <a16:creationId xmlns:a16="http://schemas.microsoft.com/office/drawing/2014/main" id="{35E84DD8-7BE2-3412-A97F-A3ADE8CF95BE}"/>
              </a:ext>
            </a:extLst>
          </p:cNvPr>
          <p:cNvSpPr/>
          <p:nvPr/>
        </p:nvSpPr>
        <p:spPr>
          <a:xfrm>
            <a:off x="1775917" y="4178865"/>
            <a:ext cx="1273664" cy="553998"/>
          </a:xfrm>
          <a:prstGeom prst="rect">
            <a:avLst/>
          </a:prstGeom>
        </p:spPr>
        <p:txBody>
          <a:bodyPr wrap="square">
            <a:spAutoFit/>
          </a:bodyPr>
          <a:lstStyle/>
          <a:p>
            <a:pPr algn="ctr"/>
            <a:r>
              <a:rPr lang="en-US" sz="1000" dirty="0">
                <a:solidFill>
                  <a:schemeClr val="bg1"/>
                </a:solidFill>
                <a:latin typeface="Avenir Book" panose="02000503020000020003" pitchFamily="2" charset="0"/>
                <a:cs typeface="Lato Heavy" panose="020F0902020204030203" pitchFamily="34" charset="0"/>
              </a:rPr>
              <a:t>SOE &amp; Foundation</a:t>
            </a:r>
          </a:p>
        </p:txBody>
      </p:sp>
      <p:sp>
        <p:nvSpPr>
          <p:cNvPr id="22" name="Rectangle 15">
            <a:extLst>
              <a:ext uri="{FF2B5EF4-FFF2-40B4-BE49-F238E27FC236}">
                <a16:creationId xmlns:a16="http://schemas.microsoft.com/office/drawing/2014/main" id="{79407E81-5789-FE4C-5A1A-17797381F259}"/>
              </a:ext>
            </a:extLst>
          </p:cNvPr>
          <p:cNvSpPr/>
          <p:nvPr/>
        </p:nvSpPr>
        <p:spPr>
          <a:xfrm>
            <a:off x="137613" y="4191626"/>
            <a:ext cx="1413373" cy="553998"/>
          </a:xfrm>
          <a:prstGeom prst="rect">
            <a:avLst/>
          </a:prstGeom>
        </p:spPr>
        <p:txBody>
          <a:bodyPr wrap="square">
            <a:spAutoFit/>
          </a:bodyPr>
          <a:lstStyle/>
          <a:p>
            <a:pPr algn="ctr"/>
            <a:r>
              <a:rPr lang="en-US" sz="1000" dirty="0">
                <a:solidFill>
                  <a:schemeClr val="bg1"/>
                </a:solidFill>
                <a:latin typeface="Avenir Book" panose="02000503020000020003" pitchFamily="2" charset="0"/>
                <a:cs typeface="Lato Heavy" panose="020F0902020204030203" pitchFamily="34" charset="0"/>
              </a:rPr>
              <a:t>Land Close &amp; Pre-Construction</a:t>
            </a:r>
          </a:p>
        </p:txBody>
      </p:sp>
      <p:sp>
        <p:nvSpPr>
          <p:cNvPr id="45" name="Rectangle 44">
            <a:extLst>
              <a:ext uri="{FF2B5EF4-FFF2-40B4-BE49-F238E27FC236}">
                <a16:creationId xmlns:a16="http://schemas.microsoft.com/office/drawing/2014/main" id="{306D8E90-A855-653E-4837-AEAED5B4A837}"/>
              </a:ext>
            </a:extLst>
          </p:cNvPr>
          <p:cNvSpPr/>
          <p:nvPr/>
        </p:nvSpPr>
        <p:spPr>
          <a:xfrm>
            <a:off x="6097791" y="4255809"/>
            <a:ext cx="1219426" cy="400110"/>
          </a:xfrm>
          <a:prstGeom prst="rect">
            <a:avLst/>
          </a:prstGeom>
        </p:spPr>
        <p:txBody>
          <a:bodyPr wrap="square">
            <a:spAutoFit/>
          </a:bodyPr>
          <a:lstStyle/>
          <a:p>
            <a:pPr algn="ctr"/>
            <a:r>
              <a:rPr lang="en-US" sz="1000" dirty="0">
                <a:solidFill>
                  <a:schemeClr val="bg1"/>
                </a:solidFill>
                <a:latin typeface="Avenir Book" panose="02000503020000020003" pitchFamily="2" charset="0"/>
                <a:cs typeface="Lato Heavy" panose="020F0902020204030203" pitchFamily="34" charset="0"/>
              </a:rPr>
              <a:t>TCO, Punchlist &amp; Delivery</a:t>
            </a:r>
          </a:p>
        </p:txBody>
      </p:sp>
      <p:pic>
        <p:nvPicPr>
          <p:cNvPr id="100" name="Gantt Chart"/>
          <p:cNvPicPr>
            <a:picLocks noChangeAspect="1"/>
          </p:cNvPicPr>
          <p:nvPr/>
        </p:nvPicPr>
        <p:blipFill>
          <a:blip r:embed="rId6"/>
          <a:stretch>
            <a:fillRect/>
          </a:stretch>
        </p:blipFill>
        <p:spPr>
          <a:xfrm>
            <a:off x="228892" y="1014338"/>
            <a:ext cx="8273323" cy="3158462"/>
          </a:xfrm>
          <a:prstGeom prst="rect">
            <a:avLst/>
          </a:prstGeom>
        </p:spPr>
      </p:pic>
    </p:spTree>
    <p:extLst>
      <p:ext uri="{BB962C8B-B14F-4D97-AF65-F5344CB8AC3E}">
        <p14:creationId xmlns:p14="http://schemas.microsoft.com/office/powerpoint/2010/main" val="26147494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47E4D-EC7F-1E9C-4E5C-5FA8688F0C5F}"/>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DE19AEE8-8B1C-9659-3088-DBE41E94EEB1}"/>
              </a:ext>
            </a:extLst>
          </p:cNvPr>
          <p:cNvGraphicFramePr>
            <a:graphicFrameLocks noGrp="1"/>
          </p:cNvGraphicFramePr>
          <p:nvPr>
            <p:extLst>
              <p:ext uri="{D42A27DB-BD31-4B8C-83A1-F6EECF244321}">
                <p14:modId xmlns:p14="http://schemas.microsoft.com/office/powerpoint/2010/main" val="2442777921"/>
              </p:ext>
            </p:extLst>
          </p:nvPr>
        </p:nvGraphicFramePr>
        <p:xfrm>
          <a:off x="107114" y="892711"/>
          <a:ext cx="8929770" cy="4751995"/>
        </p:xfrm>
        <a:graphic>
          <a:graphicData uri="http://schemas.openxmlformats.org/drawingml/2006/table">
            <a:tbl>
              <a:tblPr firstRow="1" bandRow="1">
                <a:tableStyleId>{69012ECD-51FC-41F1-AA8D-1B2483CD663E}</a:tableStyleId>
              </a:tblPr>
              <a:tblGrid>
                <a:gridCol w="2096824">
                  <a:extLst>
                    <a:ext uri="{9D8B030D-6E8A-4147-A177-3AD203B41FA5}">
                      <a16:colId xmlns:a16="http://schemas.microsoft.com/office/drawing/2014/main" val="2339380920"/>
                    </a:ext>
                  </a:extLst>
                </a:gridCol>
                <a:gridCol w="1134628">
                  <a:extLst>
                    <a:ext uri="{9D8B030D-6E8A-4147-A177-3AD203B41FA5}">
                      <a16:colId xmlns:a16="http://schemas.microsoft.com/office/drawing/2014/main" val="4077358208"/>
                    </a:ext>
                  </a:extLst>
                </a:gridCol>
                <a:gridCol w="3765619">
                  <a:extLst>
                    <a:ext uri="{9D8B030D-6E8A-4147-A177-3AD203B41FA5}">
                      <a16:colId xmlns:a16="http://schemas.microsoft.com/office/drawing/2014/main" val="1792740468"/>
                    </a:ext>
                  </a:extLst>
                </a:gridCol>
                <a:gridCol w="691661">
                  <a:extLst>
                    <a:ext uri="{9D8B030D-6E8A-4147-A177-3AD203B41FA5}">
                      <a16:colId xmlns:a16="http://schemas.microsoft.com/office/drawing/2014/main" val="1893555166"/>
                    </a:ext>
                  </a:extLst>
                </a:gridCol>
                <a:gridCol w="773723">
                  <a:extLst>
                    <a:ext uri="{9D8B030D-6E8A-4147-A177-3AD203B41FA5}">
                      <a16:colId xmlns:a16="http://schemas.microsoft.com/office/drawing/2014/main" val="1339145678"/>
                    </a:ext>
                  </a:extLst>
                </a:gridCol>
                <a:gridCol w="467315">
                  <a:extLst>
                    <a:ext uri="{9D8B030D-6E8A-4147-A177-3AD203B41FA5}">
                      <a16:colId xmlns:a16="http://schemas.microsoft.com/office/drawing/2014/main" val="3322795921"/>
                    </a:ext>
                  </a:extLst>
                </a:gridCol>
              </a:tblGrid>
              <a:tr h="438032">
                <a:tc>
                  <a:txBody>
                    <a:bodyPr/>
                    <a:lstStyle/>
                    <a:p>
                      <a:pPr algn="ctr"/>
                      <a:endParaRPr lang="en-US" sz="1050" dirty="0">
                        <a:latin typeface="+mn-lt"/>
                      </a:endParaRPr>
                    </a:p>
                  </a:txBody>
                  <a:tcPr marL="68580" marR="68580" marT="34290" marB="34290" anchor="ctr">
                    <a:solidFill>
                      <a:srgbClr val="242E3F"/>
                    </a:solidFill>
                  </a:tcPr>
                </a:tc>
                <a:tc>
                  <a:txBody>
                    <a:bodyPr/>
                    <a:lstStyle/>
                    <a:p>
                      <a:pPr algn="ctr"/>
                      <a:r>
                        <a:rPr lang="en-US" sz="1050" b="0" i="0" dirty="0">
                          <a:latin typeface="Avenir Book" panose="02000503020000020003" pitchFamily="2" charset="0"/>
                        </a:rPr>
                        <a:t>Topic</a:t>
                      </a:r>
                    </a:p>
                  </a:txBody>
                  <a:tcPr marL="68580" marR="68580" marT="34290" marB="34290" anchor="ctr">
                    <a:solidFill>
                      <a:srgbClr val="242E3F"/>
                    </a:solidFill>
                  </a:tcPr>
                </a:tc>
                <a:tc>
                  <a:txBody>
                    <a:bodyPr/>
                    <a:lstStyle/>
                    <a:p>
                      <a:pPr algn="ctr"/>
                      <a:r>
                        <a:rPr lang="en-US" sz="1050" b="0" i="0" dirty="0">
                          <a:latin typeface="Avenir Book" panose="02000503020000020003" pitchFamily="2" charset="0"/>
                        </a:rPr>
                        <a:t>Description</a:t>
                      </a:r>
                    </a:p>
                  </a:txBody>
                  <a:tcPr marL="68580" marR="68580" marT="34290" marB="34290" anchor="ctr">
                    <a:solidFill>
                      <a:srgbClr val="242E3F"/>
                    </a:solidFill>
                  </a:tcPr>
                </a:tc>
                <a:tc>
                  <a:txBody>
                    <a:bodyPr/>
                    <a:lstStyle/>
                    <a:p>
                      <a:pPr algn="ctr"/>
                      <a:r>
                        <a:rPr lang="en-US" sz="1050" b="0" i="0" dirty="0">
                          <a:latin typeface="Avenir Book" panose="02000503020000020003" pitchFamily="2" charset="0"/>
                        </a:rPr>
                        <a:t>Metric 1</a:t>
                      </a:r>
                    </a:p>
                  </a:txBody>
                  <a:tcPr marL="68580" marR="68580" marT="34290" marB="34290" anchor="ctr">
                    <a:solidFill>
                      <a:srgbClr val="242E3F"/>
                    </a:solidFill>
                  </a:tcPr>
                </a:tc>
                <a:tc>
                  <a:txBody>
                    <a:bodyPr/>
                    <a:lstStyle/>
                    <a:p>
                      <a:pPr algn="ctr"/>
                      <a:r>
                        <a:rPr lang="en-US" sz="1050" b="0" i="0" dirty="0">
                          <a:latin typeface="Avenir Book" panose="02000503020000020003" pitchFamily="2" charset="0"/>
                        </a:rPr>
                        <a:t>Metric 2</a:t>
                      </a:r>
                    </a:p>
                  </a:txBody>
                  <a:tcPr marL="68580" marR="68580" marT="34290" marB="34290" anchor="ctr">
                    <a:solidFill>
                      <a:srgbClr val="242E3F"/>
                    </a:solidFill>
                  </a:tcPr>
                </a:tc>
                <a:tc>
                  <a:txBody>
                    <a:bodyPr/>
                    <a:lstStyle/>
                    <a:p>
                      <a:pPr algn="ctr"/>
                      <a:r>
                        <a:rPr lang="en-US" sz="1050" b="0" i="0" dirty="0">
                          <a:latin typeface="Avenir Book" panose="02000503020000020003" pitchFamily="2" charset="0"/>
                        </a:rPr>
                        <a:t>Metric 3</a:t>
                      </a:r>
                    </a:p>
                  </a:txBody>
                  <a:tcPr marL="68580" marR="68580" marT="34290" marB="34290" anchor="ctr">
                    <a:solidFill>
                      <a:srgbClr val="242E3F"/>
                    </a:solidFill>
                  </a:tcPr>
                </a:tc>
                <a:extLst>
                  <a:ext uri="{0D108BD9-81ED-4DB2-BD59-A6C34878D82A}">
                    <a16:rowId xmlns:a16="http://schemas.microsoft.com/office/drawing/2014/main" val="1146122330"/>
                  </a:ext>
                </a:extLst>
              </a:tr>
              <a:tr h="817013">
                <a:tc>
                  <a:txBody>
                    <a:bodyPr/>
                    <a:lstStyle/>
                    <a:p>
                      <a:pPr algn="ctr"/>
                      <a:endParaRPr lang="en-US" sz="900" dirty="0">
                        <a:latin typeface="Avenir Book" panose="02000503020000020003" pitchFamily="2" charset="0"/>
                      </a:endParaRPr>
                    </a:p>
                  </a:txBody>
                  <a:tcPr marL="68580" marR="68580" marT="34290" marB="34290"/>
                </a:tc>
                <a:tc>
                  <a:txBody>
                    <a:bodyPr/>
                    <a:lstStyle/>
                    <a:p>
                      <a:pPr algn="ctr"/>
                      <a:endParaRPr lang="en-US" sz="1000" b="0" i="0" dirty="0">
                        <a:latin typeface="Avenir Book" panose="02000503020000020003" pitchFamily="2" charset="0"/>
                      </a:endParaRPr>
                    </a:p>
                    <a:p>
                      <a:pPr algn="ctr"/>
                      <a:endParaRPr lang="en-US" sz="1000" b="0" i="0" dirty="0">
                        <a:latin typeface="Avenir Book" panose="02000503020000020003" pitchFamily="2" charset="0"/>
                      </a:endParaRPr>
                    </a:p>
                    <a:p>
                      <a:pPr algn="ctr"/>
                      <a:r>
                        <a:rPr lang="en-US" sz="1000" b="0" i="0" dirty="0">
                          <a:latin typeface="Avenir Book" panose="02000503020000020003" pitchFamily="2" charset="0"/>
                        </a:rPr>
                        <a:t>Organization</a:t>
                      </a:r>
                    </a:p>
                  </a:txBody>
                  <a:tcPr marL="68580" marR="68580" marT="34290" marB="34290" anchor="ctr"/>
                </a:tc>
                <a:tc>
                  <a:txBody>
                    <a:bodyPr/>
                    <a:lstStyle/>
                    <a:p>
                      <a:pPr algn="just"/>
                      <a:r>
                        <a:rPr lang="en-US" sz="900" b="0" i="0" dirty="0">
                          <a:latin typeface="Avenir Book" panose="02000503020000020003" pitchFamily="2" charset="0"/>
                        </a:rPr>
                        <a:t>The Bronx Defenders is a holistic public defense organization providing free legal representation, social work, and advocacy to Bronx residents charged with crimes or involved in the family or immigration systems. Founded in 1997, it pioneered the “holistic defense” model now adopted nationally.</a:t>
                      </a:r>
                    </a:p>
                  </a:txBody>
                  <a:tcPr marL="68580" marR="68580" marT="34290" marB="34290" anchor="ctr"/>
                </a:tc>
                <a:tc>
                  <a:txBody>
                    <a:bodyPr/>
                    <a:lstStyle/>
                    <a:p>
                      <a:pPr algn="ctr"/>
                      <a:r>
                        <a:rPr lang="en-US" sz="1000" b="0" i="0" dirty="0">
                          <a:latin typeface="Avenir Book" panose="02000503020000020003" pitchFamily="2" charset="0"/>
                        </a:rPr>
                        <a:t>Founded 1997</a:t>
                      </a:r>
                    </a:p>
                  </a:txBody>
                  <a:tcPr marL="68580" marR="68580" marT="34290" marB="34290" anchor="ctr"/>
                </a:tc>
                <a:tc>
                  <a:txBody>
                    <a:bodyPr/>
                    <a:lstStyle/>
                    <a:p>
                      <a:pPr algn="ctr"/>
                      <a:r>
                        <a:rPr lang="en-US" sz="1000" b="0" i="0" dirty="0">
                          <a:latin typeface="Avenir Book" panose="02000503020000020003" pitchFamily="2" charset="0"/>
                        </a:rPr>
                        <a:t>~400 staff</a:t>
                      </a:r>
                    </a:p>
                  </a:txBody>
                  <a:tcPr marL="68580" marR="68580" marT="34290" marB="34290" anchor="ctr"/>
                </a:tc>
                <a:tc>
                  <a:txBody>
                    <a:bodyPr/>
                    <a:lstStyle/>
                    <a:p>
                      <a:pPr algn="ctr"/>
                      <a:r>
                        <a:rPr lang="en-US" sz="1000" b="0" i="0" dirty="0">
                          <a:latin typeface="Avenir Book" panose="02000503020000020003" pitchFamily="2" charset="0"/>
                        </a:rPr>
                        <a:t>501(c)(3)</a:t>
                      </a:r>
                    </a:p>
                  </a:txBody>
                  <a:tcPr marL="68580" marR="68580" marT="34290" marB="34290" anchor="ctr"/>
                </a:tc>
                <a:extLst>
                  <a:ext uri="{0D108BD9-81ED-4DB2-BD59-A6C34878D82A}">
                    <a16:rowId xmlns:a16="http://schemas.microsoft.com/office/drawing/2014/main" val="4058527576"/>
                  </a:ext>
                </a:extLst>
              </a:tr>
              <a:tr h="817013">
                <a:tc>
                  <a:txBody>
                    <a:bodyPr/>
                    <a:lstStyle/>
                    <a:p>
                      <a:pPr algn="ctr"/>
                      <a:endParaRPr lang="en-US" sz="900" dirty="0">
                        <a:latin typeface="Avenir Book" panose="02000503020000020003" pitchFamily="2" charset="0"/>
                      </a:endParaRPr>
                    </a:p>
                  </a:txBody>
                  <a:tcPr marL="68580" marR="68580" marT="34290" marB="34290"/>
                </a:tc>
                <a:tc>
                  <a:txBody>
                    <a:bodyPr/>
                    <a:lstStyle/>
                    <a:p>
                      <a:pPr algn="ctr"/>
                      <a:endParaRPr lang="en-US" sz="1000" b="0" i="0" dirty="0">
                        <a:latin typeface="Avenir Book" panose="02000503020000020003" pitchFamily="2" charset="0"/>
                      </a:endParaRPr>
                    </a:p>
                    <a:p>
                      <a:pPr algn="ctr"/>
                      <a:endParaRPr lang="en-US" sz="1000" b="0" i="0" dirty="0">
                        <a:latin typeface="Avenir Book" panose="02000503020000020003" pitchFamily="2" charset="0"/>
                      </a:endParaRPr>
                    </a:p>
                    <a:p>
                      <a:pPr algn="ctr"/>
                      <a:r>
                        <a:rPr lang="en-US" sz="1000" b="0" i="0" dirty="0">
                          <a:latin typeface="Avenir Book" panose="02000503020000020003" pitchFamily="2" charset="0"/>
                        </a:rPr>
                        <a:t>Service Lines</a:t>
                      </a:r>
                      <a:endParaRPr lang="en-US" sz="1000" b="0" i="0" dirty="0">
                        <a:latin typeface="Avenir Book" panose="02000503020000020003" pitchFamily="2" charset="0"/>
                      </a:endParaRPr>
                    </a:p>
                  </a:txBody>
                  <a:tcPr marL="68580" marR="68580" marT="34290" marB="34290" anchor="ctr"/>
                </a:tc>
                <a:tc>
                  <a:txBody>
                    <a:bodyPr/>
                    <a:lstStyle/>
                    <a:p>
                      <a:pPr algn="just"/>
                      <a:r>
                        <a:rPr lang="en-US" sz="900" b="0" i="0" dirty="0">
                          <a:latin typeface="Avenir Book" panose="02000503020000020003" pitchFamily="2" charset="0"/>
                        </a:rPr>
                        <a:t>Four integrated practice areas operating out of a shared facility: (1) Criminal Defense — representing indigent defendants in arraignments through trial; (2) Family Defense — representing parents in child-welfare proceedings; (3) Civil Action — housing, benefits, immigration; (4) Adolescent Defense — juvenile and youth advocacy.</a:t>
                      </a:r>
                    </a:p>
                  </a:txBody>
                  <a:tcPr marL="68580" marR="68580" marT="34290" marB="34290" anchor="ctr"/>
                </a:tc>
                <a:tc>
                  <a:txBody>
                    <a:bodyPr/>
                    <a:lstStyle/>
                    <a:p>
                      <a:pPr algn="ctr"/>
                      <a:r>
                        <a:rPr lang="en-US" sz="1000" b="0" i="0" dirty="0">
                          <a:latin typeface="Avenir Book" panose="02000503020000020003" pitchFamily="2" charset="0"/>
                        </a:rPr>
                        <a:t>4 practices</a:t>
                      </a:r>
                    </a:p>
                  </a:txBody>
                  <a:tcPr marL="68580" marR="68580" marT="34290" marB="34290" anchor="ctr"/>
                </a:tc>
                <a:tc>
                  <a:txBody>
                    <a:bodyPr/>
                    <a:lstStyle/>
                    <a:p>
                      <a:pPr algn="ctr"/>
                      <a:r>
                        <a:rPr lang="en-US" sz="1000" b="0" i="0" dirty="0">
                          <a:latin typeface="Avenir Book" panose="02000503020000020003" pitchFamily="2" charset="0"/>
                        </a:rPr>
                        <a:t>~35K cases/yr</a:t>
                      </a:r>
                    </a:p>
                  </a:txBody>
                  <a:tcPr marL="68580" marR="68580" marT="34290" marB="34290" anchor="ctr"/>
                </a:tc>
                <a:tc>
                  <a:txBody>
                    <a:bodyPr/>
                    <a:lstStyle/>
                    <a:p>
                      <a:pPr algn="ctr"/>
                      <a:r>
                        <a:rPr lang="en-US" sz="1000" b="0" i="0" dirty="0">
                          <a:latin typeface="Avenir Book" panose="02000503020000020003" pitchFamily="2" charset="0"/>
                        </a:rPr>
                        <a:t>Bronx County</a:t>
                      </a:r>
                    </a:p>
                  </a:txBody>
                  <a:tcPr marL="68580" marR="68580" marT="34290" marB="34290" anchor="ctr"/>
                </a:tc>
                <a:extLst>
                  <a:ext uri="{0D108BD9-81ED-4DB2-BD59-A6C34878D82A}">
                    <a16:rowId xmlns:a16="http://schemas.microsoft.com/office/drawing/2014/main" val="3069544482"/>
                  </a:ext>
                </a:extLst>
              </a:tr>
              <a:tr h="817013">
                <a:tc>
                  <a:txBody>
                    <a:bodyPr/>
                    <a:lstStyle/>
                    <a:p>
                      <a:pPr algn="ctr"/>
                      <a:endParaRPr lang="en-US" sz="900" dirty="0">
                        <a:latin typeface="Avenir Book" panose="02000503020000020003" pitchFamily="2" charset="0"/>
                      </a:endParaRPr>
                    </a:p>
                  </a:txBody>
                  <a:tcPr marL="68580" marR="68580" marT="34290" marB="34290"/>
                </a:tc>
                <a:tc>
                  <a:txBody>
                    <a:bodyPr/>
                    <a:lstStyle/>
                    <a:p>
                      <a:pPr algn="ctr"/>
                      <a:endParaRPr lang="en-US" sz="1000" b="0" i="0" dirty="0">
                        <a:latin typeface="Avenir Book" panose="02000503020000020003" pitchFamily="2" charset="0"/>
                      </a:endParaRPr>
                    </a:p>
                    <a:p>
                      <a:pPr algn="ctr"/>
                      <a:endParaRPr lang="en-US" sz="1000" b="0" i="0" dirty="0">
                        <a:latin typeface="Avenir Book" panose="02000503020000020003" pitchFamily="2" charset="0"/>
                      </a:endParaRPr>
                    </a:p>
                    <a:p>
                      <a:pPr algn="ctr"/>
                      <a:r>
                        <a:rPr lang="en-US" sz="1000" b="0" i="0" dirty="0">
                          <a:latin typeface="Avenir Book" panose="02000503020000020003" pitchFamily="2" charset="0"/>
                        </a:rPr>
                        <a:t>Lease Terms</a:t>
                      </a:r>
                    </a:p>
                  </a:txBody>
                  <a:tcPr marL="68580" marR="68580" marT="34290" marB="34290" anchor="ctr"/>
                </a:tc>
                <a:tc>
                  <a:txBody>
                    <a:bodyPr/>
                    <a:lstStyle/>
                    <a:p>
                      <a:pPr algn="just"/>
                      <a:r>
                        <a:rPr lang="en-US" sz="900" b="0" i="0" dirty="0">
                          <a:latin typeface="Avenir Book" panose="02000503020000020003" pitchFamily="2" charset="0"/>
                        </a:rPr>
                        <a:t>15-year NNN build-to-suit lease for 150,000 SF (Floors 2–10) at $55.00/SF starting rent, with annual escalations. Rent commencement targeted 12/31/2029 at TCO. Bronx Defenders also has a TI work letter funded by FM at $12.50/SF as part of the project budget.</a:t>
                      </a:r>
                    </a:p>
                  </a:txBody>
                  <a:tcPr marL="68580" marR="68580" marT="34290" marB="34290" anchor="ctr"/>
                </a:tc>
                <a:tc>
                  <a:txBody>
                    <a:bodyPr/>
                    <a:lstStyle/>
                    <a:p>
                      <a:pPr algn="ctr"/>
                      <a:r>
                        <a:rPr lang="en-US" sz="1000" b="0" i="0" dirty="0">
                          <a:latin typeface="Avenir Book" panose="02000503020000020003" pitchFamily="2" charset="0"/>
                        </a:rPr>
                        <a:t>15-year NNN</a:t>
                      </a:r>
                    </a:p>
                  </a:txBody>
                  <a:tcPr marL="68580" marR="68580" marT="34290" marB="34290" anchor="ctr"/>
                </a:tc>
                <a:tc>
                  <a:txBody>
                    <a:bodyPr/>
                    <a:lstStyle/>
                    <a:p>
                      <a:pPr algn="ctr"/>
                      <a:r>
                        <a:rPr lang="en-US" sz="1000" b="0" i="0" dirty="0">
                          <a:latin typeface="Avenir Book" panose="02000503020000020003" pitchFamily="2" charset="0"/>
                        </a:rPr>
                        <a:t>$55.00 / SF</a:t>
                      </a:r>
                    </a:p>
                  </a:txBody>
                  <a:tcPr marL="68580" marR="68580" marT="34290" marB="34290" anchor="ctr"/>
                </a:tc>
                <a:tc>
                  <a:txBody>
                    <a:bodyPr/>
                    <a:lstStyle/>
                    <a:p>
                      <a:pPr algn="ctr"/>
                      <a:r>
                        <a:rPr lang="en-US" sz="1000" b="0" i="0" dirty="0">
                          <a:latin typeface="Avenir Book" panose="02000503020000020003" pitchFamily="2" charset="0"/>
                        </a:rPr>
                        <a:t>150,000 SF</a:t>
                      </a:r>
                    </a:p>
                  </a:txBody>
                  <a:tcPr marL="68580" marR="68580" marT="34290" marB="34290" anchor="ctr"/>
                </a:tc>
                <a:extLst>
                  <a:ext uri="{0D108BD9-81ED-4DB2-BD59-A6C34878D82A}">
                    <a16:rowId xmlns:a16="http://schemas.microsoft.com/office/drawing/2014/main" val="1914601868"/>
                  </a:ext>
                </a:extLst>
              </a:tr>
              <a:tr h="1045911">
                <a:tc>
                  <a:txBody>
                    <a:bodyPr/>
                    <a:lstStyle/>
                    <a:p>
                      <a:pPr algn="ctr"/>
                      <a:endParaRPr lang="en-US" sz="900" dirty="0">
                        <a:latin typeface="Avenir Book" panose="02000503020000020003" pitchFamily="2" charset="0"/>
                      </a:endParaRPr>
                    </a:p>
                  </a:txBody>
                  <a:tcPr marL="68580" marR="68580" marT="34290" marB="34290"/>
                </a:tc>
                <a:tc>
                  <a:txBody>
                    <a:bodyPr/>
                    <a:lstStyle/>
                    <a:p>
                      <a:pPr algn="ctr"/>
                      <a:endParaRPr lang="en-US" sz="1000" b="0" i="0" dirty="0">
                        <a:latin typeface="Avenir Book" panose="02000503020000020003" pitchFamily="2" charset="0"/>
                      </a:endParaRPr>
                    </a:p>
                    <a:p>
                      <a:pPr algn="ctr"/>
                      <a:endParaRPr lang="en-US" sz="1000" b="0" i="0" dirty="0">
                        <a:latin typeface="Avenir Book" panose="02000503020000020003" pitchFamily="2" charset="0"/>
                      </a:endParaRPr>
                    </a:p>
                    <a:p>
                      <a:pPr algn="ctr"/>
                      <a:r>
                        <a:rPr lang="en-US" sz="1000" b="0" i="0" dirty="0">
                          <a:latin typeface="Avenir Book" panose="02000503020000020003" pitchFamily="2" charset="0"/>
                        </a:rPr>
                        <a:t>Funding &amp; Credit</a:t>
                      </a:r>
                    </a:p>
                  </a:txBody>
                  <a:tcPr marL="68580" marR="68580" marT="34290" marB="34290" anchor="ctr"/>
                </a:tc>
                <a:tc>
                  <a:txBody>
                    <a:bodyPr/>
                    <a:lstStyle/>
                    <a:p>
                      <a:pPr algn="just"/>
                      <a:r>
                        <a:rPr lang="en-US" sz="900" b="0" i="0" dirty="0">
                          <a:latin typeface="Avenir Book" panose="02000503020000020003" pitchFamily="2" charset="0"/>
                        </a:rPr>
                        <a:t>Funded primarily through long-term annual contracts with NYC government (DSS, ACS, Office of Court Administration), supplemented by foundation grants and donations. The NYC indigent-defense funding stream is statutorily mandated and has grown consistently over the last 20 years — a stable, policy-backed revenue base.</a:t>
                      </a:r>
                    </a:p>
                  </a:txBody>
                  <a:tcPr marL="68580" marR="68580" marT="34290" marB="34290" anchor="ctr"/>
                </a:tc>
                <a:tc>
                  <a:txBody>
                    <a:bodyPr/>
                    <a:lstStyle/>
                    <a:p>
                      <a:pPr algn="ctr"/>
                      <a:r>
                        <a:rPr lang="en-US" sz="1000" b="0" i="0" dirty="0">
                          <a:latin typeface="Avenir Book" panose="02000503020000020003" pitchFamily="2" charset="0"/>
                        </a:rPr>
                        <a:t>NYC DSS / ACS</a:t>
                      </a:r>
                    </a:p>
                  </a:txBody>
                  <a:tcPr marL="68580" marR="68580" marT="34290" marB="34290" anchor="ctr"/>
                </a:tc>
                <a:tc>
                  <a:txBody>
                    <a:bodyPr/>
                    <a:lstStyle/>
                    <a:p>
                      <a:pPr algn="ctr"/>
                      <a:r>
                        <a:rPr lang="en-US" sz="1000" b="0" i="0" dirty="0">
                          <a:latin typeface="Avenir Book" panose="02000503020000020003" pitchFamily="2" charset="0"/>
                        </a:rPr>
                        <a:t>~80% gov</a:t>
                      </a:r>
                    </a:p>
                  </a:txBody>
                  <a:tcPr marL="68580" marR="68580" marT="34290" marB="34290" anchor="ctr"/>
                </a:tc>
                <a:tc>
                  <a:txBody>
                    <a:bodyPr/>
                    <a:lstStyle/>
                    <a:p>
                      <a:pPr algn="ctr"/>
                      <a:r>
                        <a:rPr lang="en-US" sz="1000" b="0" i="0" dirty="0">
                          <a:latin typeface="Avenir Book" panose="02000503020000020003" pitchFamily="2" charset="0"/>
                        </a:rPr>
                        <a:t>Policy-backed</a:t>
                      </a:r>
                    </a:p>
                  </a:txBody>
                  <a:tcPr marL="68580" marR="68580" marT="34290" marB="34290" anchor="ctr"/>
                </a:tc>
                <a:extLst>
                  <a:ext uri="{0D108BD9-81ED-4DB2-BD59-A6C34878D82A}">
                    <a16:rowId xmlns:a16="http://schemas.microsoft.com/office/drawing/2014/main" val="3738189413"/>
                  </a:ext>
                </a:extLst>
              </a:tr>
              <a:tr h="817013">
                <a:tc>
                  <a:txBody>
                    <a:bodyPr/>
                    <a:lstStyle/>
                    <a:p>
                      <a:pPr algn="ctr"/>
                      <a:endParaRPr lang="en-US" sz="900" dirty="0">
                        <a:latin typeface="Avenir Book" panose="02000503020000020003" pitchFamily="2" charset="0"/>
                      </a:endParaRPr>
                    </a:p>
                  </a:txBody>
                  <a:tcPr marL="68580" marR="68580" marT="34290" marB="34290" anchor="ctr"/>
                </a:tc>
                <a:tc>
                  <a:txBody>
                    <a:bodyPr/>
                    <a:lstStyle/>
                    <a:p>
                      <a:pPr algn="ctr"/>
                      <a:r>
                        <a:rPr lang="en-US" sz="1000" b="0" i="0" dirty="0">
                          <a:latin typeface="Avenir Book" panose="02000503020000020003" pitchFamily="2" charset="0"/>
                        </a:rPr>
                        <a:t>BTS Status</a:t>
                      </a:r>
                    </a:p>
                  </a:txBody>
                  <a:tcPr marL="68580" marR="68580" marT="34290" marB="34290" anchor="ctr"/>
                </a:tc>
                <a:tc>
                  <a:txBody>
                    <a:bodyPr/>
                    <a:lstStyle/>
                    <a:p>
                      <a:pPr algn="just"/>
                      <a:r>
                        <a:rPr lang="en-US" sz="900" b="0" i="0" dirty="0">
                          <a:latin typeface="Avenir Book" panose="02000503020000020003" pitchFamily="2" charset="0"/>
                        </a:rPr>
                        <a:t>Initial lease proposal delivered 10/21/2025 and revised 10/27/2025. BXD redline response received 11/21/2025; open items are economic (free rent, escalations, TI funding mechanism) rather than structural. Work letter and BXD test fit both in draft. Targeted full lease execution Q3 2026.</a:t>
                      </a:r>
                    </a:p>
                  </a:txBody>
                  <a:tcPr marL="68580" marR="68580" marT="34290" marB="34290" anchor="ctr"/>
                </a:tc>
                <a:tc>
                  <a:txBody>
                    <a:bodyPr/>
                    <a:lstStyle/>
                    <a:p>
                      <a:pPr algn="ctr"/>
                      <a:r>
                        <a:rPr lang="en-US" sz="1000" b="0" i="0" dirty="0">
                          <a:latin typeface="Avenir Book" panose="02000503020000020003" pitchFamily="2" charset="0"/>
                        </a:rPr>
                        <a:t>Redline in</a:t>
                      </a:r>
                    </a:p>
                  </a:txBody>
                  <a:tcPr marL="68580" marR="68580" marT="34290" marB="34290" anchor="ctr"/>
                </a:tc>
                <a:tc>
                  <a:txBody>
                    <a:bodyPr/>
                    <a:lstStyle/>
                    <a:p>
                      <a:pPr algn="ctr"/>
                      <a:r>
                        <a:rPr lang="en-US" sz="1000" b="0" i="0" dirty="0">
                          <a:latin typeface="Avenir Book" panose="02000503020000020003" pitchFamily="2" charset="0"/>
                        </a:rPr>
                        <a:t>11/21/2025</a:t>
                      </a:r>
                    </a:p>
                  </a:txBody>
                  <a:tcPr marL="68580" marR="68580" marT="34290" marB="34290" anchor="ctr"/>
                </a:tc>
                <a:tc>
                  <a:txBody>
                    <a:bodyPr/>
                    <a:lstStyle/>
                    <a:p>
                      <a:pPr algn="ctr"/>
                      <a:r>
                        <a:rPr lang="en-US" sz="1000" b="0" i="0" dirty="0">
                          <a:latin typeface="Avenir Book" panose="02000503020000020003" pitchFamily="2" charset="0"/>
                        </a:rPr>
                        <a:t>Targeting Q3 2026</a:t>
                      </a:r>
                    </a:p>
                  </a:txBody>
                  <a:tcPr marL="68580" marR="68580" marT="34290" marB="34290" anchor="ctr"/>
                </a:tc>
                <a:extLst>
                  <a:ext uri="{0D108BD9-81ED-4DB2-BD59-A6C34878D82A}">
                    <a16:rowId xmlns:a16="http://schemas.microsoft.com/office/drawing/2014/main" val="478480583"/>
                  </a:ext>
                </a:extLst>
              </a:tr>
            </a:tbl>
          </a:graphicData>
        </a:graphic>
      </p:graphicFrame>
      <p:pic>
        <p:nvPicPr>
          <p:cNvPr id="3" name="Content Placeholder 6">
            <a:extLst>
              <a:ext uri="{FF2B5EF4-FFF2-40B4-BE49-F238E27FC236}">
                <a16:creationId xmlns:a16="http://schemas.microsoft.com/office/drawing/2014/main" id="{60A22599-A8C8-C2FA-FE9A-C821BFF1BDD9}"/>
              </a:ext>
            </a:extLst>
          </p:cNvPr>
          <p:cNvPicPr>
            <a:picLocks noGrp="1" noChangeAspect="1"/>
          </p:cNvPicPr>
          <p:nvPr>
            <p:ph idx="1"/>
          </p:nvPr>
        </p:nvPicPr>
        <p:blipFill>
          <a:blip r:embed="rId3"/>
          <a:srcRect l="7087" r="6407"/>
          <a:stretch>
            <a:fillRect/>
          </a:stretch>
        </p:blipFill>
        <p:spPr>
          <a:xfrm>
            <a:off x="107113" y="1337636"/>
            <a:ext cx="2105370" cy="807092"/>
          </a:xfrm>
          <a:ln>
            <a:noFill/>
          </a:ln>
        </p:spPr>
      </p:pic>
      <p:pic>
        <p:nvPicPr>
          <p:cNvPr id="4" name="Picture 3" descr="A building with glass windows  AI-generated content may be incorrect.">
            <a:extLst>
              <a:ext uri="{FF2B5EF4-FFF2-40B4-BE49-F238E27FC236}">
                <a16:creationId xmlns:a16="http://schemas.microsoft.com/office/drawing/2014/main" id="{71508E49-F5A4-FBFE-50FD-A44936CB193E}"/>
              </a:ext>
            </a:extLst>
          </p:cNvPr>
          <p:cNvPicPr>
            <a:picLocks/>
          </p:cNvPicPr>
          <p:nvPr/>
        </p:nvPicPr>
        <p:blipFill>
          <a:blip r:embed="rId4"/>
          <a:srcRect b="3067"/>
          <a:stretch>
            <a:fillRect/>
          </a:stretch>
        </p:blipFill>
        <p:spPr>
          <a:xfrm>
            <a:off x="107112" y="4835388"/>
            <a:ext cx="2105371" cy="807092"/>
          </a:xfrm>
          <a:prstGeom prst="rect">
            <a:avLst/>
          </a:prstGeom>
          <a:ln>
            <a:noFill/>
          </a:ln>
        </p:spPr>
      </p:pic>
      <p:pic>
        <p:nvPicPr>
          <p:cNvPr id="5" name="Picture 4">
            <a:extLst>
              <a:ext uri="{FF2B5EF4-FFF2-40B4-BE49-F238E27FC236}">
                <a16:creationId xmlns:a16="http://schemas.microsoft.com/office/drawing/2014/main" id="{6E3B53E3-33C5-7077-DCCD-6F833982D80E}"/>
              </a:ext>
            </a:extLst>
          </p:cNvPr>
          <p:cNvPicPr>
            <a:picLocks noChangeAspect="1"/>
          </p:cNvPicPr>
          <p:nvPr/>
        </p:nvPicPr>
        <p:blipFill>
          <a:blip r:embed="rId5"/>
          <a:stretch>
            <a:fillRect/>
          </a:stretch>
        </p:blipFill>
        <p:spPr>
          <a:xfrm>
            <a:off x="107113" y="2152998"/>
            <a:ext cx="2105370" cy="808516"/>
          </a:xfrm>
          <a:prstGeom prst="rect">
            <a:avLst/>
          </a:prstGeom>
          <a:ln>
            <a:noFill/>
          </a:ln>
        </p:spPr>
      </p:pic>
      <p:pic>
        <p:nvPicPr>
          <p:cNvPr id="8" name="Picture 7">
            <a:extLst>
              <a:ext uri="{FF2B5EF4-FFF2-40B4-BE49-F238E27FC236}">
                <a16:creationId xmlns:a16="http://schemas.microsoft.com/office/drawing/2014/main" id="{D4F48CD8-F12D-B9A2-2A0C-AE382A75E567}"/>
              </a:ext>
            </a:extLst>
          </p:cNvPr>
          <p:cNvPicPr preferRelativeResize="0">
            <a:picLocks/>
          </p:cNvPicPr>
          <p:nvPr/>
        </p:nvPicPr>
        <p:blipFill>
          <a:blip r:embed="rId6"/>
          <a:srcRect t="17508" b="19957"/>
          <a:stretch>
            <a:fillRect/>
          </a:stretch>
        </p:blipFill>
        <p:spPr>
          <a:xfrm>
            <a:off x="107112" y="2969944"/>
            <a:ext cx="2105370" cy="807092"/>
          </a:xfrm>
          <a:prstGeom prst="rect">
            <a:avLst/>
          </a:prstGeom>
          <a:ln>
            <a:noFill/>
          </a:ln>
        </p:spPr>
      </p:pic>
      <p:pic>
        <p:nvPicPr>
          <p:cNvPr id="9" name="Picture 8">
            <a:extLst>
              <a:ext uri="{FF2B5EF4-FFF2-40B4-BE49-F238E27FC236}">
                <a16:creationId xmlns:a16="http://schemas.microsoft.com/office/drawing/2014/main" id="{77329751-0FF0-C5CB-C234-B97C94389424}"/>
              </a:ext>
            </a:extLst>
          </p:cNvPr>
          <p:cNvPicPr>
            <a:picLocks noChangeAspect="1"/>
          </p:cNvPicPr>
          <p:nvPr/>
        </p:nvPicPr>
        <p:blipFill rotWithShape="1">
          <a:blip r:embed="rId7"/>
          <a:srcRect t="3653" b="-1"/>
          <a:stretch/>
        </p:blipFill>
        <p:spPr>
          <a:xfrm>
            <a:off x="107116" y="3787897"/>
            <a:ext cx="1199058" cy="1037017"/>
          </a:xfrm>
          <a:prstGeom prst="rect">
            <a:avLst/>
          </a:prstGeom>
          <a:ln>
            <a:noFill/>
          </a:ln>
        </p:spPr>
      </p:pic>
      <p:pic>
        <p:nvPicPr>
          <p:cNvPr id="11" name="Picture 10" descr="A room with a large wall and a large artwork  AI-generated content may be incorrect.">
            <a:extLst>
              <a:ext uri="{FF2B5EF4-FFF2-40B4-BE49-F238E27FC236}">
                <a16:creationId xmlns:a16="http://schemas.microsoft.com/office/drawing/2014/main" id="{F83691CE-1428-203C-89D3-FDA1B5637548}"/>
              </a:ext>
            </a:extLst>
          </p:cNvPr>
          <p:cNvPicPr>
            <a:picLocks noChangeAspect="1"/>
          </p:cNvPicPr>
          <p:nvPr/>
        </p:nvPicPr>
        <p:blipFill>
          <a:blip r:embed="rId8"/>
          <a:srcRect l="14260" t="21196" r="6767" b="7181"/>
          <a:stretch>
            <a:fillRect/>
          </a:stretch>
        </p:blipFill>
        <p:spPr>
          <a:xfrm>
            <a:off x="1109471" y="3785466"/>
            <a:ext cx="1103011" cy="1039982"/>
          </a:xfrm>
          <a:prstGeom prst="rect">
            <a:avLst/>
          </a:prstGeom>
          <a:ln>
            <a:noFill/>
          </a:ln>
        </p:spPr>
      </p:pic>
      <p:sp>
        <p:nvSpPr>
          <p:cNvPr id="20" name="Title 19">
            <a:extLst>
              <a:ext uri="{FF2B5EF4-FFF2-40B4-BE49-F238E27FC236}">
                <a16:creationId xmlns:a16="http://schemas.microsoft.com/office/drawing/2014/main" id="{D2ED3A9F-D601-4288-32A0-56875196ABF7}"/>
              </a:ext>
            </a:extLst>
          </p:cNvPr>
          <p:cNvSpPr>
            <a:spLocks noGrp="1"/>
          </p:cNvSpPr>
          <p:nvPr>
            <p:ph type="title"/>
          </p:nvPr>
        </p:nvSpPr>
        <p:spPr>
          <a:xfrm>
            <a:off x="339283" y="-92565"/>
            <a:ext cx="7886700" cy="1325563"/>
          </a:xfrm>
        </p:spPr>
        <p:txBody>
          <a:bodyPr>
            <a:normAutofit/>
          </a:bodyPr>
          <a:lstStyle/>
          <a:p>
            <a:r>
              <a:rPr lang="en-US" sz="2800" dirty="0">
                <a:latin typeface="Georgia" panose="02040502050405020303" pitchFamily="18" charset="0"/>
              </a:rPr>
              <a:t>Tenant Overview — The Bronx Defenders</a:t>
            </a:r>
          </a:p>
        </p:txBody>
      </p:sp>
      <p:pic>
        <p:nvPicPr>
          <p:cNvPr id="3074" name="Picture 2" descr="Celularity Inc. (NASDAQ:CELU ...">
            <a:extLst>
              <a:ext uri="{FF2B5EF4-FFF2-40B4-BE49-F238E27FC236}">
                <a16:creationId xmlns:a16="http://schemas.microsoft.com/office/drawing/2014/main" id="{01AF2DC9-AA89-BEEF-F094-BBDCF43A1382}"/>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23266" t="33696" r="23671" b="36329"/>
          <a:stretch>
            <a:fillRect/>
          </a:stretch>
        </p:blipFill>
        <p:spPr bwMode="auto">
          <a:xfrm>
            <a:off x="2628836" y="2298733"/>
            <a:ext cx="345688" cy="19527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BASF - Wikipedia">
            <a:extLst>
              <a:ext uri="{FF2B5EF4-FFF2-40B4-BE49-F238E27FC236}">
                <a16:creationId xmlns:a16="http://schemas.microsoft.com/office/drawing/2014/main" id="{927E0B20-8EDF-3616-2305-A6BBF251DCF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38463" y="3124119"/>
            <a:ext cx="533052" cy="192412"/>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46183298-C411-558F-9E75-91FCCF2AD1F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496291" y="4100580"/>
            <a:ext cx="547683" cy="117441"/>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a:extLst>
              <a:ext uri="{FF2B5EF4-FFF2-40B4-BE49-F238E27FC236}">
                <a16:creationId xmlns:a16="http://schemas.microsoft.com/office/drawing/2014/main" id="{6AFE4A2A-BC2A-4ED4-B66A-CD6F51184C1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31845" y="1625697"/>
            <a:ext cx="539670" cy="11548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5E6C19C-B184-42D2-9973-420B05447F9A}"/>
              </a:ext>
            </a:extLst>
          </p:cNvPr>
          <p:cNvSpPr txBox="1"/>
          <p:nvPr/>
        </p:nvSpPr>
        <p:spPr>
          <a:xfrm>
            <a:off x="510364" y="6209796"/>
            <a:ext cx="4582632" cy="400110"/>
          </a:xfrm>
          <a:prstGeom prst="rect">
            <a:avLst/>
          </a:prstGeom>
          <a:noFill/>
        </p:spPr>
        <p:txBody>
          <a:bodyPr wrap="square">
            <a:spAutoFit/>
          </a:bodyPr>
          <a:lstStyle/>
          <a:p>
            <a:r>
              <a:rPr lang="en-US" sz="2000" dirty="0">
                <a:solidFill>
                  <a:schemeClr val="bg1"/>
                </a:solidFill>
                <a:latin typeface="Georgia" panose="02040502050405020303" pitchFamily="18" charset="0"/>
              </a:rPr>
              <a:t/>
            </a:r>
          </a:p>
        </p:txBody>
      </p:sp>
      <p:sp>
        <p:nvSpPr>
          <p:cNvPr id="10" name="TextBox 9">
            <a:extLst>
              <a:ext uri="{FF2B5EF4-FFF2-40B4-BE49-F238E27FC236}">
                <a16:creationId xmlns:a16="http://schemas.microsoft.com/office/drawing/2014/main" id="{D6E976C6-F322-CB25-C8CB-3EC98307B275}"/>
              </a:ext>
            </a:extLst>
          </p:cNvPr>
          <p:cNvSpPr txBox="1"/>
          <p:nvPr/>
        </p:nvSpPr>
        <p:spPr>
          <a:xfrm>
            <a:off x="510364" y="6209796"/>
            <a:ext cx="4582632" cy="400110"/>
          </a:xfrm>
          <a:prstGeom prst="rect">
            <a:avLst/>
          </a:prstGeom>
          <a:noFill/>
        </p:spPr>
        <p:txBody>
          <a:bodyPr wrap="square">
            <a:spAutoFit/>
          </a:bodyPr>
          <a:lstStyle/>
          <a:p>
            <a:r>
              <a:rPr lang="en-US" sz="2000" dirty="0">
                <a:solidFill>
                  <a:schemeClr val="bg1"/>
                </a:solidFill>
                <a:latin typeface="Georgia" panose="02040502050405020303" pitchFamily="18" charset="0"/>
              </a:rPr>
              <a:t/>
            </a:r>
          </a:p>
        </p:txBody>
      </p:sp>
      <p:sp>
        <p:nvSpPr>
          <p:cNvPr id="12" name="Rectangle 11">
            <a:extLst>
              <a:ext uri="{FF2B5EF4-FFF2-40B4-BE49-F238E27FC236}">
                <a16:creationId xmlns:a16="http://schemas.microsoft.com/office/drawing/2014/main" id="{BE4179AA-1B79-561F-5ECC-62F55B5A2234}"/>
              </a:ext>
            </a:extLst>
          </p:cNvPr>
          <p:cNvSpPr/>
          <p:nvPr/>
        </p:nvSpPr>
        <p:spPr>
          <a:xfrm>
            <a:off x="-3714" y="5900237"/>
            <a:ext cx="9147714" cy="965200"/>
          </a:xfrm>
          <a:prstGeom prst="rect">
            <a:avLst/>
          </a:prstGeom>
          <a:solidFill>
            <a:srgbClr val="242E3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a:extLst>
              <a:ext uri="{FF2B5EF4-FFF2-40B4-BE49-F238E27FC236}">
                <a16:creationId xmlns:a16="http://schemas.microsoft.com/office/drawing/2014/main" id="{B38BEF16-0387-6394-51CF-2CA88AEE52BE}"/>
              </a:ext>
            </a:extLst>
          </p:cNvPr>
          <p:cNvPicPr>
            <a:picLocks noChangeAspect="1"/>
          </p:cNvPicPr>
          <p:nvPr/>
        </p:nvPicPr>
        <p:blipFill>
          <a:blip r:embed="rId13"/>
          <a:stretch>
            <a:fillRect/>
          </a:stretch>
        </p:blipFill>
        <p:spPr>
          <a:xfrm>
            <a:off x="7587808" y="6280853"/>
            <a:ext cx="1357545" cy="257995"/>
          </a:xfrm>
          <a:prstGeom prst="rect">
            <a:avLst/>
          </a:prstGeom>
        </p:spPr>
      </p:pic>
      <p:sp>
        <p:nvSpPr>
          <p:cNvPr id="14" name="TextBox 13">
            <a:extLst>
              <a:ext uri="{FF2B5EF4-FFF2-40B4-BE49-F238E27FC236}">
                <a16:creationId xmlns:a16="http://schemas.microsoft.com/office/drawing/2014/main" id="{ACB49187-31A9-8DD9-FE22-D9A9F2D306DB}"/>
              </a:ext>
            </a:extLst>
          </p:cNvPr>
          <p:cNvSpPr txBox="1"/>
          <p:nvPr/>
        </p:nvSpPr>
        <p:spPr>
          <a:xfrm>
            <a:off x="244550" y="6267847"/>
            <a:ext cx="4582632" cy="276999"/>
          </a:xfrm>
          <a:prstGeom prst="rect">
            <a:avLst/>
          </a:prstGeom>
          <a:noFill/>
        </p:spPr>
        <p:txBody>
          <a:bodyPr wrap="square">
            <a:spAutoFit/>
          </a:bodyPr>
          <a:lstStyle/>
          <a:p>
            <a:r>
              <a:rPr lang="en-US" sz="1200" dirty="0">
                <a:solidFill>
                  <a:schemeClr val="bg1"/>
                </a:solidFill>
                <a:latin typeface="Avenir Book" panose="02000503020000020003" pitchFamily="2" charset="0"/>
              </a:rPr>
              <a:t>67 East 161st Street — Bronx Defenders Development</a:t>
            </a:r>
          </a:p>
        </p:txBody>
      </p:sp>
      <p:sp>
        <p:nvSpPr>
          <p:cNvPr id="15" name="Slide Number Placeholder 1">
            <a:extLst>
              <a:ext uri="{FF2B5EF4-FFF2-40B4-BE49-F238E27FC236}">
                <a16:creationId xmlns:a16="http://schemas.microsoft.com/office/drawing/2014/main" id="{CFE9F29C-FBB3-6F9A-11F4-566F0D356C62}"/>
              </a:ext>
            </a:extLst>
          </p:cNvPr>
          <p:cNvSpPr>
            <a:spLocks noGrp="1"/>
          </p:cNvSpPr>
          <p:nvPr>
            <p:ph type="sldNum" sz="quarter" idx="12"/>
          </p:nvPr>
        </p:nvSpPr>
        <p:spPr>
          <a:xfrm>
            <a:off x="8875968" y="6555065"/>
            <a:ext cx="661732" cy="365125"/>
          </a:xfrm>
        </p:spPr>
        <p:txBody>
          <a:bodyPr/>
          <a:lstStyle/>
          <a:p>
            <a:fld id="{D80FDC49-7799-154F-AEB4-2120C2C6BE6C}" type="slidenum">
              <a:rPr lang="en-US" smtClean="0"/>
              <a:t>8</a:t>
            </a:fld>
            <a:endParaRPr lang="en-US" dirty="0"/>
          </a:p>
        </p:txBody>
      </p:sp>
    </p:spTree>
    <p:extLst>
      <p:ext uri="{BB962C8B-B14F-4D97-AF65-F5344CB8AC3E}">
        <p14:creationId xmlns:p14="http://schemas.microsoft.com/office/powerpoint/2010/main" val="277672126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10630</TotalTime>
  <Words>3545</Words>
  <Application>Microsoft Macintosh PowerPoint</Application>
  <PresentationFormat>Letter Paper (8.5x11 in)</PresentationFormat>
  <Paragraphs>583</Paragraphs>
  <Slides>16</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Aptos</vt:lpstr>
      <vt:lpstr>Aptos Display</vt:lpstr>
      <vt:lpstr>Arial</vt:lpstr>
      <vt:lpstr>Avenir Book</vt:lpstr>
      <vt:lpstr>Avenir Heavy</vt:lpstr>
      <vt:lpstr>Avenir Medium</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Current Opportunity Pipeline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Morris Zeitouni</dc:creator>
  <cp:lastModifiedBy>Morris Zeitouni</cp:lastModifiedBy>
  <cp:revision>139</cp:revision>
  <cp:lastPrinted>2025-11-10T21:25:48Z</cp:lastPrinted>
  <dcterms:created xsi:type="dcterms:W3CDTF">2025-11-10T15:58:38Z</dcterms:created>
  <dcterms:modified xsi:type="dcterms:W3CDTF">2025-12-03T16:20:33Z</dcterms:modified>
</cp:coreProperties>
</file>